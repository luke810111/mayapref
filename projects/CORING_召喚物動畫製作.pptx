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41" r:id="rId3"/>
    <p:sldId id="306" r:id="rId4"/>
    <p:sldId id="307" r:id="rId5"/>
    <p:sldId id="340" r:id="rId6"/>
    <p:sldId id="309" r:id="rId7"/>
    <p:sldId id="342" r:id="rId8"/>
    <p:sldId id="343" r:id="rId9"/>
    <p:sldId id="344" r:id="rId10"/>
    <p:sldId id="346" r:id="rId11"/>
    <p:sldId id="350" r:id="rId12"/>
    <p:sldId id="347" r:id="rId13"/>
    <p:sldId id="348" r:id="rId14"/>
    <p:sldId id="34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A3E"/>
    <a:srgbClr val="9900FF"/>
    <a:srgbClr val="CCB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5878" autoAdjust="0"/>
  </p:normalViewPr>
  <p:slideViewPr>
    <p:cSldViewPr snapToGrid="0">
      <p:cViewPr varScale="1">
        <p:scale>
          <a:sx n="103" d="100"/>
          <a:sy n="103" d="100"/>
        </p:scale>
        <p:origin x="1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06655-758F-4D20-8B43-BF48990DC961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40DEC-9CAF-4EE3-BB92-1C73C99289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4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40DEC-9CAF-4EE3-BB92-1C73C99289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530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73D1E4-AE35-4592-9859-77D6C9FC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BBD469-460B-4225-8387-B2BAF29FB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EF6A4B-0605-4E6D-8EE1-03497E60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6C091-2212-4B44-859C-67567669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DBC04B-AF75-41F9-B518-936E24B9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35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1A852-A856-42FF-AF81-9D4F1EDC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59210-A4CF-429A-8693-3180E0E7A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34AF53-B18E-4F03-8889-1ED003E6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1E453-98F6-4416-96B2-A136A998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139E7-DB40-4AE4-B67B-A8E006E8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72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C1896-35F7-4F88-8509-4C8D926A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CA3A51-F62C-4357-8368-A034386B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69A8C6-A4D0-4DEF-8A23-DDC0FED9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F3410-DDC5-4A07-9A5F-724DED95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1CF84-B680-49DC-A005-C837C1CF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8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9B2E9-2082-4225-BD1B-6B341C56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15A51-5718-462D-956F-9862344FF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A1D48-DB9A-4F46-A0E6-F7792FB3D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4B41C3-A4FF-40E1-BA44-9AC2D069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6CDFBD-5106-4E8D-B8AC-4AFB3FEA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FE59AD-709F-44F5-9F8A-F28ECC61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9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D684C-216E-4899-ACEC-F0387698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18E68F-F617-442E-89DD-A9BE0EE1D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FC4374-403E-4702-B062-4B7A44305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2D2332-6E22-4C71-BE91-29DF9CE72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C1773-515E-413C-92E9-8B36768E1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DE2D42-A3AB-4B3C-AF13-469BD3ED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E83BD1-FF91-44F7-A384-7B483CDD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90ED68-07E4-49AE-95EF-434AF5A1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8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E769A-10AC-4277-BD1F-E811C2AA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E8AC10-46F4-4CAA-9077-CF17A587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05E2E7-3ABF-4800-94C0-EE56629F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8690E4-B18E-4D71-85E9-06F4AB01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42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BBE1B3-E1C2-427E-84D2-D3A32E8F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0EFF1C-9258-4BFD-BF71-DFA46B4A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AEF1D-E41D-41C2-ABDB-98EF8154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74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CB57F-2E61-445C-B0BA-889CE824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D70370-1672-4E01-AD6D-62A4DF382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C44607-556C-4790-8273-90B81D024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AD30E2-C32E-4475-B702-2F0C8579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8D5B38-4787-4E78-86BB-F249386D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527F0F-ABC6-4C87-89B0-F52FDE3E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53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162C5-63BA-452E-8FD5-2AF2F774A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525E7E-7AE8-4399-BCAB-3A78182F4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399615-C67C-46CA-B40F-A1B3851C5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AD000-F73F-41B0-BD0D-DFA09ACAB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5D6907-7044-4E40-81EF-8016BFA9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63C647-E921-48B2-ABAA-BAA5148F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02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135BA-FE27-4876-93A0-877F98C2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93C790-4EBB-44DA-8C9E-41C925C26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A8357-23DD-40BB-81E1-AD5A9C5C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7A2DBB-DCF8-40DD-8AE2-BFDD6E63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781DE9-050E-40E1-A81E-102FB89C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97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4AD81F-2E8D-4B7F-A928-A3DB78AA2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B94DE-50D6-4C03-9574-A4CBA8DC2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AE60C6-2D76-479A-9201-C349CF1A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7F416F-1DE8-4B89-9827-53A5F865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898F4-CFA4-4170-A8B7-1A740649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89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75BC56-9AA4-44E2-B653-A392F28B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05DC8-3CAA-4DB8-8579-E931C857A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BA3CA2-B817-4A52-8F08-A382AD1E8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792C4-9F52-4A26-B036-7580CF1F8160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B7B75-C8A9-4C37-A524-47910A6D1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EE5F4A-4254-4555-9729-567EDAC94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9C54720-32F5-A91D-C881-70419C28E0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64352" cy="687418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D9A55F0-3358-47D9-B5B0-81318AEF6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035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PROJECT:CORING</a:t>
            </a:r>
            <a:b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召喚物</a:t>
            </a:r>
            <a:r>
              <a:rPr lang="zh-TW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 </a:t>
            </a:r>
            <a: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(C8010)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60A39A8-91E3-4050-899E-1A06E4ADBA03}"/>
              </a:ext>
            </a:extLst>
          </p:cNvPr>
          <p:cNvSpPr txBox="1">
            <a:spLocks/>
          </p:cNvSpPr>
          <p:nvPr/>
        </p:nvSpPr>
        <p:spPr>
          <a:xfrm>
            <a:off x="838200" y="39670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314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1364-728D-3043-BE17-376769F5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036B3-A9C4-D453-295A-56B3D4044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992" y="450979"/>
            <a:ext cx="5114544" cy="673733"/>
          </a:xfrm>
        </p:spPr>
        <p:txBody>
          <a:bodyPr>
            <a:normAutofit fontScale="90000"/>
          </a:bodyPr>
          <a:lstStyle/>
          <a:p>
            <a:r>
              <a:rPr lang="zh-TW" altLang="en-US" sz="4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動態靈感</a:t>
            </a:r>
            <a:r>
              <a:rPr lang="en-US" altLang="zh-TW" sz="31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31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影片可播放</a:t>
            </a:r>
            <a:r>
              <a:rPr lang="en-US" altLang="zh-TW" sz="31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8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FC631F-F738-2C99-97B1-3C84932C4EDD}"/>
              </a:ext>
            </a:extLst>
          </p:cNvPr>
          <p:cNvSpPr txBox="1">
            <a:spLocks/>
          </p:cNvSpPr>
          <p:nvPr/>
        </p:nvSpPr>
        <p:spPr>
          <a:xfrm>
            <a:off x="838200" y="39670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FuXtJYSaEAAdWca">
            <a:hlinkClick r:id="" action="ppaction://media"/>
            <a:extLst>
              <a:ext uri="{FF2B5EF4-FFF2-40B4-BE49-F238E27FC236}">
                <a16:creationId xmlns:a16="http://schemas.microsoft.com/office/drawing/2014/main" id="{CDC1EF2B-6959-CDEA-F7B9-0B3F64E50A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3735" y="1354836"/>
            <a:ext cx="4739640" cy="4739640"/>
          </a:xfrm>
          <a:prstGeom prst="rect">
            <a:avLst/>
          </a:prstGeom>
        </p:spPr>
      </p:pic>
      <p:pic>
        <p:nvPicPr>
          <p:cNvPr id="5" name="Fdoge0UacAAVI1u">
            <a:hlinkClick r:id="" action="ppaction://media"/>
            <a:extLst>
              <a:ext uri="{FF2B5EF4-FFF2-40B4-BE49-F238E27FC236}">
                <a16:creationId xmlns:a16="http://schemas.microsoft.com/office/drawing/2014/main" id="{0B77A820-930B-671F-FC94-9F54260F676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58712" y="1354836"/>
            <a:ext cx="4739640" cy="47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0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215D838-B258-A732-E5D1-3EDB41286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120" y="0"/>
            <a:ext cx="710588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2800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召喚物</a:t>
            </a:r>
            <a:r>
              <a:rPr lang="en-US" altLang="zh-TW" sz="2800" b="1" spc="3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設定與結構說明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18755" y="966876"/>
            <a:ext cx="1155449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召喚物是由法師單位創造的無機質人造使魔，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動作關鍵字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懸浮魔法儀器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無情的魔像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攻擊時狂暴、野獸的感覺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結構組成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Aft>
                <a:spcPts val="600"/>
              </a:spcAft>
            </a:pP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TW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上顎</a:t>
            </a:r>
            <a:r>
              <a:rPr lang="en-US" altLang="zh-TW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是主體同時也是眼眶</a:t>
            </a: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TW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下顎</a:t>
            </a:r>
            <a:r>
              <a:rPr lang="en-US" altLang="zh-TW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共有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個，兩側各有一個</a:t>
            </a: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TW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大眼珠</a:t>
            </a:r>
            <a:r>
              <a:rPr lang="en-US" altLang="zh-TW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環狀造型，像眼球一樣運動、顫動</a:t>
            </a: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b="1" dirty="0">
                <a:solidFill>
                  <a:srgbClr val="C1EA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TW" altLang="en-US" sz="1600" b="1" dirty="0">
                <a:solidFill>
                  <a:srgbClr val="C1EA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小眼珠</a:t>
            </a:r>
            <a:r>
              <a:rPr lang="en-US" altLang="zh-TW" sz="1600" b="1" dirty="0">
                <a:solidFill>
                  <a:srgbClr val="C1EA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rgbClr val="C1EA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比較小的環、時常繞行大眼珠</a:t>
            </a: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TW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TW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星環</a:t>
            </a:r>
            <a:r>
              <a:rPr lang="en-US" altLang="zh-TW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共有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圈，是武器也是盾牌、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平時在球體周圍旋轉著、</a:t>
            </a:r>
            <a:r>
              <a:rPr lang="zh-TW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有縮放動畫</a:t>
            </a:r>
            <a:b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0DFF4BD-A901-8943-C6BA-C72E0C1DC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120" y="107899"/>
            <a:ext cx="1936830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0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【0.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出生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登場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】Spawn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37063"/>
            <a:ext cx="1155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「單位被召喚登場時」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正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逆時針轉動、逐漸變大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【0.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必須流暢銜接到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80">
            <a:extLst>
              <a:ext uri="{FF2B5EF4-FFF2-40B4-BE49-F238E27FC236}">
                <a16:creationId xmlns:a16="http://schemas.microsoft.com/office/drawing/2014/main" id="{A22C7CC0-26C9-B86B-51CB-D66C4404B15C}"/>
              </a:ext>
            </a:extLst>
          </p:cNvPr>
          <p:cNvSpPr txBox="1"/>
          <p:nvPr/>
        </p:nvSpPr>
        <p:spPr>
          <a:xfrm>
            <a:off x="36576" y="4773168"/>
            <a:ext cx="344726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靠近地面位置，星環由小放大、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時針旋轉著。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15C900F-59CB-8E9C-C3C6-B8384B76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6322"/>
            <a:ext cx="12192000" cy="2879052"/>
          </a:xfrm>
          <a:prstGeom prst="rect">
            <a:avLst/>
          </a:prstGeom>
        </p:spPr>
      </p:pic>
      <p:sp>
        <p:nvSpPr>
          <p:cNvPr id="8" name="文本框 80">
            <a:extLst>
              <a:ext uri="{FF2B5EF4-FFF2-40B4-BE49-F238E27FC236}">
                <a16:creationId xmlns:a16="http://schemas.microsoft.com/office/drawing/2014/main" id="{3538498D-7AED-A86E-9DC9-41E4EF60F325}"/>
              </a:ext>
            </a:extLst>
          </p:cNvPr>
          <p:cNvSpPr txBox="1"/>
          <p:nvPr/>
        </p:nvSpPr>
        <p:spPr>
          <a:xfrm>
            <a:off x="3061882" y="4773167"/>
            <a:ext cx="25907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星環放大到一定程度後，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本體球體</a:t>
            </a:r>
            <a:r>
              <a:rPr lang="zh-TW" altLang="en-US" sz="15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順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時針旋轉、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並由下往上升起。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0">
            <a:extLst>
              <a:ext uri="{FF2B5EF4-FFF2-40B4-BE49-F238E27FC236}">
                <a16:creationId xmlns:a16="http://schemas.microsoft.com/office/drawing/2014/main" id="{5C01F8C8-8960-76F7-0AED-4152AEE4CFC5}"/>
              </a:ext>
            </a:extLst>
          </p:cNvPr>
          <p:cNvSpPr txBox="1"/>
          <p:nvPr/>
        </p:nvSpPr>
        <p:spPr>
          <a:xfrm>
            <a:off x="6010683" y="4773166"/>
            <a:ext cx="25907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星環與球體持續放大到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大小，過程中都持續旋轉著。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>
            <a:extLst>
              <a:ext uri="{FF2B5EF4-FFF2-40B4-BE49-F238E27FC236}">
                <a16:creationId xmlns:a16="http://schemas.microsoft.com/office/drawing/2014/main" id="{C6D93E23-5910-DA26-4D39-5932A3B982D0}"/>
              </a:ext>
            </a:extLst>
          </p:cNvPr>
          <p:cNvSpPr txBox="1"/>
          <p:nvPr/>
        </p:nvSpPr>
        <p:spPr>
          <a:xfrm>
            <a:off x="9153171" y="4773165"/>
            <a:ext cx="25907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球體達到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Idle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動畫高度後停止旋轉。球體微向正面轉動、大眼球也向正面看去、小眼球開始繞大眼球轉動。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星環向上升起，各個環錯開了角度、並開始各自轉動。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897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2E19-110E-C6C6-5F20-59BF7CE0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2062D-5A44-6D62-FC6A-DFAB8686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】Idle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FCDDC3B-D6D3-2B91-E9C5-524BCC9ECC85}"/>
              </a:ext>
            </a:extLst>
          </p:cNvPr>
          <p:cNvSpPr txBox="1"/>
          <p:nvPr/>
        </p:nvSpPr>
        <p:spPr>
          <a:xfrm>
            <a:off x="394855" y="837063"/>
            <a:ext cx="1155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「單位無行動時」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穩定轉動、微微飄浮、呼吸著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必須流暢銜接到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89B2417-964D-35CC-F06C-6D3CF5917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127" y="2063697"/>
            <a:ext cx="5527938" cy="4048545"/>
          </a:xfrm>
          <a:prstGeom prst="rect">
            <a:avLst/>
          </a:prstGeom>
        </p:spPr>
      </p:pic>
      <p:sp>
        <p:nvSpPr>
          <p:cNvPr id="5" name="文本框 80">
            <a:extLst>
              <a:ext uri="{FF2B5EF4-FFF2-40B4-BE49-F238E27FC236}">
                <a16:creationId xmlns:a16="http://schemas.microsoft.com/office/drawing/2014/main" id="{2900F01B-6DC4-3DB5-613E-FFD0A39AD0C6}"/>
              </a:ext>
            </a:extLst>
          </p:cNvPr>
          <p:cNvSpPr txBox="1"/>
          <p:nvPr/>
        </p:nvSpPr>
        <p:spPr>
          <a:xfrm>
            <a:off x="621945" y="3205348"/>
            <a:ext cx="270509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球體角度微微向前方轉動，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大眼球也向前方看著、時不時會朝別的方向動一下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，小眼球一直繞著大眼球轉動著。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個星環錯落成不同的角度轉動著、他們的傾斜角度會隨時間稍微地變化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ED6595A-5E52-65C6-81E5-FA9D4C941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542700" y="2063697"/>
            <a:ext cx="2520190" cy="2619741"/>
          </a:xfrm>
          <a:prstGeom prst="rect">
            <a:avLst/>
          </a:prstGeom>
        </p:spPr>
      </p:pic>
      <p:sp>
        <p:nvSpPr>
          <p:cNvPr id="8" name="文本框 80">
            <a:extLst>
              <a:ext uri="{FF2B5EF4-FFF2-40B4-BE49-F238E27FC236}">
                <a16:creationId xmlns:a16="http://schemas.microsoft.com/office/drawing/2014/main" id="{1BC62567-ADAD-E0DE-5A5B-B0CBB1683936}"/>
              </a:ext>
            </a:extLst>
          </p:cNvPr>
          <p:cNvSpPr txBox="1"/>
          <p:nvPr/>
        </p:nvSpPr>
        <p:spPr>
          <a:xfrm>
            <a:off x="9557909" y="4683438"/>
            <a:ext cx="25049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僅供參考，</a:t>
            </a:r>
            <a:br>
              <a:rPr lang="en-US" altLang="zh-TW" sz="1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製作方向還是以左圖為主</a:t>
            </a:r>
            <a:endParaRPr lang="en-US" altLang="zh-TW" sz="1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6523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】Move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「單位沿著路線走跑」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一波一波地向前的動力 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像手風琴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74691B-A3FC-0FDE-C3EE-AC6CACA73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395" y="1901952"/>
            <a:ext cx="4477410" cy="438824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73E0E44-FD60-147A-EE54-1F5128AB2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593618">
            <a:off x="9120481" y="4299323"/>
            <a:ext cx="2524477" cy="1952898"/>
          </a:xfrm>
          <a:prstGeom prst="rect">
            <a:avLst/>
          </a:prstGeom>
        </p:spPr>
      </p:pic>
      <p:sp>
        <p:nvSpPr>
          <p:cNvPr id="14" name="文本框 80">
            <a:extLst>
              <a:ext uri="{FF2B5EF4-FFF2-40B4-BE49-F238E27FC236}">
                <a16:creationId xmlns:a16="http://schemas.microsoft.com/office/drawing/2014/main" id="{2F50C765-1281-C9F5-E089-CE3DF7FE55CC}"/>
              </a:ext>
            </a:extLst>
          </p:cNvPr>
          <p:cNvSpPr txBox="1"/>
          <p:nvPr/>
        </p:nvSpPr>
        <p:spPr>
          <a:xfrm>
            <a:off x="621945" y="3205348"/>
            <a:ext cx="270509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球體更向前傾的感覺，轉動角度比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Idle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時向前轉的角度更多。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小眼球一直繞著大眼球轉動著。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個星環排成較整齊的角度、在球體向前時，彼此的距離呈現出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拉伸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&lt;-&gt;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收縮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的關係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像是手風琴的感覺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15" name="FtuiGbGaMAEDcOm">
            <a:hlinkClick r:id="" action="ppaction://media"/>
            <a:extLst>
              <a:ext uri="{FF2B5EF4-FFF2-40B4-BE49-F238E27FC236}">
                <a16:creationId xmlns:a16="http://schemas.microsoft.com/office/drawing/2014/main" id="{5A03B0D1-F575-3DAE-8A99-B06B1214EA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05088" y="415463"/>
            <a:ext cx="3244257" cy="324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1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A59B8-45FE-DBD6-3A8F-2D6D2981D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E3E8D-04C7-1033-AD55-09C87FF8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推撞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】Push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792D18B-83EC-AAE8-9F9E-4EFEBE095A8E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「沿著路線走跑過程，將路徑上的對手撞開時</a:t>
            </a:r>
            <a:r>
              <a:rPr lang="en-US" altLang="zh-TW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類似戰士的推移</a:t>
            </a:r>
            <a:r>
              <a:rPr lang="en-US" altLang="zh-TW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像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彈簧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，短暫蓄力後向前撞擊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8FD915D4-D7EB-8D6E-4455-C26A288CA627}"/>
              </a:ext>
            </a:extLst>
          </p:cNvPr>
          <p:cNvSpPr txBox="1"/>
          <p:nvPr/>
        </p:nvSpPr>
        <p:spPr>
          <a:xfrm>
            <a:off x="722529" y="3205348"/>
            <a:ext cx="27050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球體</a:t>
            </a:r>
            <a:r>
              <a:rPr lang="zh-TW" altLang="en-US" sz="15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完全朝向正面</a:t>
            </a:r>
            <a:endParaRPr lang="en-US" altLang="zh-TW" sz="15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小眼球移動到大眼珠正中間。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個星環整齊地層疊在一起、在球體撞出時，圓環彼此的距離會突然拉長，彷彿將球體推出去的感覺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E7F5975-72D4-57F7-CE9C-49E59CB9D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1936786"/>
            <a:ext cx="8196072" cy="447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9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34569-412E-75DB-9EFD-2E7AF6C9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18345-6BFF-B298-83B6-55F809EC6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穿削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】Cross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23B0DF3-0EB1-55DF-5AB2-84FD87C8F2F6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「沿著路線走跑過程，穿越路徑上敵人同時切削</a:t>
            </a:r>
            <a:r>
              <a:rPr lang="en-US" altLang="zh-TW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類似刺客的穿刺</a:t>
            </a:r>
            <a:r>
              <a:rPr lang="en-US" altLang="zh-TW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像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旋刃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，高速轉動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穿削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D7CA6746-CD26-1B1D-B3EF-A2AD8F76D345}"/>
              </a:ext>
            </a:extLst>
          </p:cNvPr>
          <p:cNvSpPr txBox="1"/>
          <p:nvPr/>
        </p:nvSpPr>
        <p:spPr>
          <a:xfrm>
            <a:off x="927803" y="3628539"/>
            <a:ext cx="27050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球體與星環瞬間加速轉動，穿越並傷害敵人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動畫拆分類似刺客的穿刺，分為</a:t>
            </a:r>
            <a:r>
              <a:rPr lang="zh-TW" altLang="en-US" sz="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前搖</a:t>
            </a:r>
            <a:r>
              <a:rPr lang="en-US" altLang="zh-TW" sz="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TW" altLang="en-US" sz="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過程</a:t>
            </a:r>
            <a:r>
              <a:rPr lang="en-US" altLang="zh-TW" sz="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TW" altLang="en-US" sz="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後搖 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CDA203-3A08-F671-14AB-DC0B8B81F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41" y="2308038"/>
            <a:ext cx="7231987" cy="373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445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8FBA-D4DA-BCF2-E3DB-D322E703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53C15-8B68-4748-23D9-DF4CF9B4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【5.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啃咬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Terminate_001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0770EBB-A489-AD05-5440-9A7C8FCBF24B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「單位移動到終點後發動的近距離終結攻擊」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野蠻、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誇張、大咬一口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【5.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啃咬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5E04A097-1701-8E48-50F5-7DFB0E2FCC50}"/>
              </a:ext>
            </a:extLst>
          </p:cNvPr>
          <p:cNvSpPr txBox="1"/>
          <p:nvPr/>
        </p:nvSpPr>
        <p:spPr>
          <a:xfrm>
            <a:off x="394855" y="3466353"/>
            <a:ext cx="27050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上顎與下顎 往斜上方張開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然後瞬間用力咬下 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!!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咬合的過程幀可以有些誇張化的</a:t>
            </a:r>
            <a:r>
              <a:rPr lang="zh-TW" altLang="en-US" sz="15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放大型變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，讓表演更兇殘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B2B7C3-2746-3DEC-8D9E-EF89BDFB5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1919097"/>
            <a:ext cx="9028176" cy="464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0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42E1-4287-9C31-1F74-CAAE287F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AA440-DFE1-E9EB-1EC4-EB1A78D5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【6.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射擊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Terminate_002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1527570-6788-4087-1F97-DB9FC6845CC6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「單位移動到終點後發動的遠距離終結攻擊」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像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電磁砲、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蓄力、後座力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【6.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DB085D95-CB0A-9E0D-6D76-8074B6F2128A}"/>
              </a:ext>
            </a:extLst>
          </p:cNvPr>
          <p:cNvSpPr txBox="1"/>
          <p:nvPr/>
        </p:nvSpPr>
        <p:spPr>
          <a:xfrm>
            <a:off x="1298601" y="5612238"/>
            <a:ext cx="27050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星環高速轉動，上下顎蓄力震動著，大小眼珠向前翻起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B8480C7-4FE2-5CF9-C4AF-D597D735E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2321"/>
            <a:ext cx="10546080" cy="3574680"/>
          </a:xfrm>
          <a:prstGeom prst="rect">
            <a:avLst/>
          </a:prstGeom>
        </p:spPr>
      </p:pic>
      <p:sp>
        <p:nvSpPr>
          <p:cNvPr id="3" name="文本框 80">
            <a:extLst>
              <a:ext uri="{FF2B5EF4-FFF2-40B4-BE49-F238E27FC236}">
                <a16:creationId xmlns:a16="http://schemas.microsoft.com/office/drawing/2014/main" id="{44F701D4-9448-9562-7E05-83641256CA0F}"/>
              </a:ext>
            </a:extLst>
          </p:cNvPr>
          <p:cNvSpPr txBox="1"/>
          <p:nvPr/>
        </p:nvSpPr>
        <p:spPr>
          <a:xfrm>
            <a:off x="5157292" y="5612238"/>
            <a:ext cx="29198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射擊前的一瞬間，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星環整齊排列於前方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80">
            <a:extLst>
              <a:ext uri="{FF2B5EF4-FFF2-40B4-BE49-F238E27FC236}">
                <a16:creationId xmlns:a16="http://schemas.microsoft.com/office/drawing/2014/main" id="{EEAFBA1C-E592-3391-2C8A-3A5E9DB89ADD}"/>
              </a:ext>
            </a:extLst>
          </p:cNvPr>
          <p:cNvSpPr txBox="1"/>
          <p:nvPr/>
        </p:nvSpPr>
        <p:spPr>
          <a:xfrm>
            <a:off x="8449209" y="5610060"/>
            <a:ext cx="29198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射擊時，星環向前分離，就像是壓縮的力量得到釋放；上下顎在射擊時因衝擊力道而分離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339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EB23C-A981-2CC3-96FA-E884AC66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ECCBE-0322-6965-A5DE-D404C8A1E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4" y="346653"/>
            <a:ext cx="11554489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【6-1.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射擊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奧義版本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)】 </a:t>
            </a:r>
            <a:r>
              <a:rPr lang="en-US" altLang="zh-TW" sz="2800" b="1" spc="3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SoulSkill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TW" altLang="en-US" sz="2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跟射擊的</a:t>
            </a:r>
            <a:r>
              <a:rPr lang="zh-TW" altLang="en-US" sz="22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差異</a:t>
            </a:r>
            <a:r>
              <a:rPr lang="en-US" altLang="zh-TW" sz="22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22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有蓄力循環動畫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D5C46B3-2E68-34D9-27DF-7CD2796B3C7B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「單位蓄力一回合後發動的遠距離終結攻擊」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像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電磁砲、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蓄力、後座力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【6-1.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D327D6BF-6597-1C6F-16DF-771206846348}"/>
              </a:ext>
            </a:extLst>
          </p:cNvPr>
          <p:cNvSpPr txBox="1"/>
          <p:nvPr/>
        </p:nvSpPr>
        <p:spPr>
          <a:xfrm>
            <a:off x="1298601" y="5514109"/>
            <a:ext cx="2705093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星環高速轉動，上下顎蓄力震動著，大小眼珠向前翻起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奧義版本的蓄力部分拆分出來，讓它能循環播放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187902-8906-8A81-AC6A-0A99C1D8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2321"/>
            <a:ext cx="10546080" cy="3574680"/>
          </a:xfrm>
          <a:prstGeom prst="rect">
            <a:avLst/>
          </a:prstGeom>
        </p:spPr>
      </p:pic>
      <p:sp>
        <p:nvSpPr>
          <p:cNvPr id="3" name="文本框 80">
            <a:extLst>
              <a:ext uri="{FF2B5EF4-FFF2-40B4-BE49-F238E27FC236}">
                <a16:creationId xmlns:a16="http://schemas.microsoft.com/office/drawing/2014/main" id="{30FC2F3E-EC1A-C128-F3CB-5A2751E08F87}"/>
              </a:ext>
            </a:extLst>
          </p:cNvPr>
          <p:cNvSpPr txBox="1"/>
          <p:nvPr/>
        </p:nvSpPr>
        <p:spPr>
          <a:xfrm>
            <a:off x="5157292" y="5612238"/>
            <a:ext cx="29198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射擊前的一瞬間，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星環整齊排列於前方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80">
            <a:extLst>
              <a:ext uri="{FF2B5EF4-FFF2-40B4-BE49-F238E27FC236}">
                <a16:creationId xmlns:a16="http://schemas.microsoft.com/office/drawing/2014/main" id="{0EB891D5-ED95-0550-8FC5-FE98C0AAC44C}"/>
              </a:ext>
            </a:extLst>
          </p:cNvPr>
          <p:cNvSpPr txBox="1"/>
          <p:nvPr/>
        </p:nvSpPr>
        <p:spPr>
          <a:xfrm>
            <a:off x="8449209" y="5610060"/>
            <a:ext cx="29198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射擊時，星環向前分離，就像是壓縮的力量得到釋放；上下顎在射擊時因衝擊力道而分離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2866C16-5862-F525-5F59-20715060ABF4}"/>
              </a:ext>
            </a:extLst>
          </p:cNvPr>
          <p:cNvSpPr/>
          <p:nvPr/>
        </p:nvSpPr>
        <p:spPr>
          <a:xfrm>
            <a:off x="822960" y="1902321"/>
            <a:ext cx="3602736" cy="3574680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240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0022-8F77-B0BA-73B8-BA34718F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99194-1A61-65F3-D50F-CB0AB9A9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【7.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備戰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】Prepare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76DDE3-EB41-C6FF-B892-82B4B201B6B8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「單位移動到終點後發動的自保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上盾技能」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瞬間擴張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放大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【7.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備戰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BEAAF27D-0E2E-ADB9-21A8-C8966EFE3907}"/>
              </a:ext>
            </a:extLst>
          </p:cNvPr>
          <p:cNvSpPr txBox="1"/>
          <p:nvPr/>
        </p:nvSpPr>
        <p:spPr>
          <a:xfrm>
            <a:off x="1271169" y="3822192"/>
            <a:ext cx="27050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嘴巴像是吼叫一樣張大一下，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此時身旁的</a:t>
            </a:r>
            <a:r>
              <a:rPr lang="zh-TW" altLang="en-US" sz="15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星環同時瞬間放大</a:t>
            </a: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、然後再縮小回原本大小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D16A99-924D-7E05-0E1B-E96B1509F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09" y="2164471"/>
            <a:ext cx="5220025" cy="410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89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83A3-74D6-D0B2-E6CE-DACA2F41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D17E6CC-0399-FEE7-6275-3F670D7CF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44" y="1865052"/>
            <a:ext cx="9582912" cy="377184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40F10F0-D717-F0BF-EC16-CB61DD67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【8.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r>
              <a:rPr lang="en-US" altLang="zh-TW" sz="2800" b="1" spc="3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A+B】Hit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3388600-4924-7178-4303-ECB7BBEEAB4C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「單位受到傷害時」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大力擊打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、歪斜、搖晃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【8.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F1A5F0CD-8205-ED20-7B6F-951D2B494C8F}"/>
              </a:ext>
            </a:extLst>
          </p:cNvPr>
          <p:cNvSpPr txBox="1"/>
          <p:nvPr/>
        </p:nvSpPr>
        <p:spPr>
          <a:xfrm>
            <a:off x="1931047" y="5661713"/>
            <a:ext cx="27050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從後方受到攻擊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上顎被打到向前歪斜、下顎撞上星環、大小眼珠飛出去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F6B5156-3DD6-3F86-7E77-96E577D6761D}"/>
              </a:ext>
            </a:extLst>
          </p:cNvPr>
          <p:cNvCxnSpPr/>
          <p:nvPr/>
        </p:nvCxnSpPr>
        <p:spPr>
          <a:xfrm>
            <a:off x="6492240" y="2002536"/>
            <a:ext cx="0" cy="3456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80">
            <a:extLst>
              <a:ext uri="{FF2B5EF4-FFF2-40B4-BE49-F238E27FC236}">
                <a16:creationId xmlns:a16="http://schemas.microsoft.com/office/drawing/2014/main" id="{7217BD83-7B27-D1DC-2345-427ADAF50576}"/>
              </a:ext>
            </a:extLst>
          </p:cNvPr>
          <p:cNvSpPr txBox="1"/>
          <p:nvPr/>
        </p:nvSpPr>
        <p:spPr>
          <a:xfrm>
            <a:off x="7555860" y="5661713"/>
            <a:ext cx="27050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從前方受到攻擊</a:t>
            </a:r>
            <a: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TW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上顎被打到向後歪斜、下顎撞上星環、大小眼珠飛出去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630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FCF9C-385E-BE00-12EC-3993E6FA1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39CE6-CF3C-01D9-3658-6DB4E8B7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【9.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】Dead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172665B-C76C-45EE-AD2B-9ECAF1CD4CD1}"/>
              </a:ext>
            </a:extLst>
          </p:cNvPr>
          <p:cNvSpPr txBox="1"/>
          <p:nvPr/>
        </p:nvSpPr>
        <p:spPr>
          <a:xfrm>
            <a:off x="394855" y="782199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動畫時機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「單位失去全部血量後」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關鍵詞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抽乾、失去動力與浮力、墜落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流暢銜接到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【9.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D6BD13F6-8AC7-0EFC-28E0-092C6F9C3295}"/>
              </a:ext>
            </a:extLst>
          </p:cNvPr>
          <p:cNvSpPr txBox="1"/>
          <p:nvPr/>
        </p:nvSpPr>
        <p:spPr>
          <a:xfrm>
            <a:off x="530505" y="3635116"/>
            <a:ext cx="27050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死亡時，先像是抽搐般抖動，之後便徹底失去動力，各部位解體後散落一地</a:t>
            </a:r>
            <a:endParaRPr lang="en-US" altLang="zh-TW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78B2F6-19BF-EBCD-06E4-DE8583E24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057301"/>
            <a:ext cx="8836152" cy="413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29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13846</TotalTime>
  <Words>1342</Words>
  <Application>Microsoft Office PowerPoint</Application>
  <PresentationFormat>寬螢幕</PresentationFormat>
  <Paragraphs>83</Paragraphs>
  <Slides>14</Slides>
  <Notes>1</Notes>
  <HiddenSlides>0</HiddenSlides>
  <MMClips>3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微软雅黑</vt:lpstr>
      <vt:lpstr>Arial</vt:lpstr>
      <vt:lpstr>Office 主题​​</vt:lpstr>
      <vt:lpstr>PROJECT:CORING 召喚物動畫 (C8010)</vt:lpstr>
      <vt:lpstr>動態靈感(影片可播放)</vt:lpstr>
      <vt:lpstr>【召喚物】設定與結構說明</vt:lpstr>
      <vt:lpstr>【0.出生/登場】Spawn</vt:lpstr>
      <vt:lpstr>【1.待機】Idle</vt:lpstr>
      <vt:lpstr>【2.移動】Move</vt:lpstr>
      <vt:lpstr>【3.推撞】Push</vt:lpstr>
      <vt:lpstr>【4.穿削】Cross</vt:lpstr>
      <vt:lpstr>【5.啃咬】 Terminate_001</vt:lpstr>
      <vt:lpstr>【6.射擊】 Terminate_002</vt:lpstr>
      <vt:lpstr>【6-1.射擊(奧義版本)】 SoulSkill   跟射擊的差異:有蓄力循環動畫</vt:lpstr>
      <vt:lpstr>【7.備戰】Prepare</vt:lpstr>
      <vt:lpstr>【8.受擊A+B】Hit</vt:lpstr>
      <vt:lpstr>【9.死亡】Dead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RT主流程架構</dc:title>
  <dc:creator>T172073</dc:creator>
  <cp:lastModifiedBy>ju hui chou</cp:lastModifiedBy>
  <cp:revision>1370</cp:revision>
  <dcterms:created xsi:type="dcterms:W3CDTF">2022-05-21T14:24:12Z</dcterms:created>
  <dcterms:modified xsi:type="dcterms:W3CDTF">2026-03-27T09:29:45Z</dcterms:modified>
</cp:coreProperties>
</file>