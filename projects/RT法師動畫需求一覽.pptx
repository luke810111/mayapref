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5" r:id="rId3"/>
    <p:sldId id="306" r:id="rId4"/>
    <p:sldId id="307" r:id="rId5"/>
    <p:sldId id="309" r:id="rId6"/>
    <p:sldId id="310" r:id="rId7"/>
    <p:sldId id="330" r:id="rId8"/>
    <p:sldId id="327" r:id="rId9"/>
    <p:sldId id="339" r:id="rId10"/>
    <p:sldId id="337" r:id="rId11"/>
    <p:sldId id="312" r:id="rId12"/>
    <p:sldId id="319" r:id="rId13"/>
    <p:sldId id="314" r:id="rId14"/>
    <p:sldId id="315" r:id="rId15"/>
    <p:sldId id="336" r:id="rId16"/>
    <p:sldId id="317" r:id="rId17"/>
    <p:sldId id="318" r:id="rId18"/>
    <p:sldId id="333" r:id="rId19"/>
    <p:sldId id="334" r:id="rId20"/>
    <p:sldId id="316" r:id="rId21"/>
    <p:sldId id="332" r:id="rId22"/>
    <p:sldId id="322" r:id="rId23"/>
    <p:sldId id="338" r:id="rId24"/>
    <p:sldId id="323" r:id="rId25"/>
    <p:sldId id="324" r:id="rId26"/>
    <p:sldId id="325" r:id="rId27"/>
    <p:sldId id="326" r:id="rId28"/>
    <p:sldId id="33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CC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5878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8T15:02:05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1T09:43:08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678 395 24575,'-9'-10'0,"-227"-209"0,207 196 0,0 2 0,-1 0 0,-1 3 0,-1 0 0,-1 2 0,-59-21 0,84 34 0,0 1 0,0 0 0,0 0 0,-1 1 0,1 0 0,0 0 0,-1 1 0,1 0 0,-17 3 0,22-2 0,-1 0 0,1 0 0,0 1 0,0 0 0,0-1 0,1 1 0,-1 0 0,0 0 0,1 0 0,-1 1 0,1-1 0,-1 0 0,1 1 0,0 0 0,0 0 0,0-1 0,1 1 0,-1 0 0,1 0 0,-1 1 0,1-1 0,0 0 0,0 0 0,1 1 0,-1-1 0,1 0 0,-1 5 0,0 14 0,0 1 0,1-1 0,2 1 0,0-1 0,1 0 0,1 0 0,9 26 0,61 155 0,-67-186 0,111 266 0,12-5 0,316 492 0,-357-645 0,183 199 0,-205-256 0,3-3 0,2-3 0,3-4 0,85 50 0,-158-106 0,34 19 0,40 18 0,-67-35 0,-1 0 0,1-1 0,1 0 0,-1-1 0,0 0 0,1 0 0,-1-1 0,1 0 0,-1 0 0,16-2 0,-22 0 0,0 1 0,-1-1 0,1 0 0,-1 0 0,1-1 0,-1 1 0,1 0 0,-1-1 0,0 1 0,1-1 0,-1 0 0,0 0 0,0 0 0,0 0 0,-1 0 0,1 0 0,0 0 0,-1-1 0,0 1 0,1-1 0,-1 1 0,0-1 0,0 1 0,0-1 0,-1 0 0,1 1 0,0-1 0,-1 0 0,0 0 0,0 1 0,0-6 0,0-9 0,-1 0 0,-1-1 0,-7-30 0,7 39 0,-17-66 0,-4 1 0,-3 0 0,-3 2 0,-43-76 0,67 139 0,0 1 0,0-1 0,-1 1 0,0 1 0,-8-8 0,14 14 0,-1 0 0,0 0 0,1 0 0,-1 0 0,0 0 0,0 0 0,0 0 0,0 0 0,0 1 0,0-1 0,0 0 0,0 1 0,-1-1 0,1 1 0,0-1 0,0 1 0,0 0 0,-1-1 0,1 1 0,0 0 0,0 0 0,-1 0 0,1 0 0,0 0 0,0 0 0,-1 0 0,1 0 0,0 1 0,0-1 0,0 0 0,-1 1 0,1-1 0,0 1 0,0-1 0,0 1 0,0 0 0,0-1 0,0 1 0,0 0 0,0 0 0,0 0 0,0 0 0,0 0 0,0 0 0,1 0 0,-1 0 0,0 0 0,1 0 0,-2 2 0,-3 11 0,0-1 0,0 1 0,1 0 0,1 1 0,0-1 0,1 1 0,0 23 0,21-107 0,-11-71 0,-8 139 0,0 0 0,0 0 0,0 0 0,0 0 0,0-1 0,1 1 0,-1 0 0,0 0 0,1 0 0,-1 0 0,0 0 0,1 0 0,0 0 0,-1 0 0,1 0 0,-1 0 0,1 0 0,0 0 0,0 0 0,0 0 0,0 1 0,-1-1 0,1 0 0,0 1 0,2-2 0,-1 2 0,0 0 0,-1-1 0,1 1 0,0 0 0,0 0 0,0 1 0,-1-1 0,1 0 0,0 1 0,0-1 0,-1 1 0,1-1 0,0 1 0,2 1 0,8 5 0,0 0 0,-1 1 0,15 14 0,-19-17 0,38 34-455,-2 2 0,42 50 0,-74-77-6371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7T16:57:52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696 409 24575,'-10'-10'0,"-231"-217"0,211 203 0,1 2 0,-2 1 0,-1 2 0,0 0 0,-2 3 0,-61-23 0,88 36 0,-1 1 0,-1 0 0,1 0 0,-1 1 0,1 0 0,-1 0 0,0 1 0,1 0 0,-17 3 0,21-2 0,1 0 0,-1 0 0,2 1 0,-2 0 0,2-1 0,-1 1 0,0 1 0,0-1 0,1 0 0,-1 1 0,1-1 0,-2 0 0,3 1 0,-1 0 0,-1 0 0,2-1 0,0 1 0,-2 1 0,2-1 0,-1 1 0,2-1 0,-1 0 0,-1 0 0,2 1 0,-1-1 0,1 0 0,-1 6 0,0 13 0,1 2 0,0-1 0,1 1 0,1-1 0,1-1 0,2 1 0,8 27 0,62 160 0,-68-192 0,114 275 0,12-5 0,323 509 0,-365-668 0,187 207 0,-209-266 0,2-3 0,3-3 0,2-3 0,89 50 0,-164-109 0,36 20 0,41 19 0,-69-37 0,-1 0 0,1-1 0,1 0 0,0-1 0,-1 0 0,1 0 0,0-1 0,-1 0 0,1 0 0,15-2 0,-22 0 0,0 1 0,0-1 0,-1 0 0,1 0 0,-1-1 0,1 1 0,0 0 0,-2-1 0,2 1 0,-1-1 0,1 0 0,-1 0 0,1 0 0,-2 0 0,0-1 0,1 1 0,0 0 0,-1-1 0,0 1 0,1-1 0,0 1 0,-1-1 0,-1 1 0,1-1 0,-1 0 0,1 1 0,0-2 0,-1 1 0,0 0 0,0 1 0,0-6 0,0-10 0,-1 1 0,-1-2 0,-7-31 0,7 41 0,-17-69 0,-4 2 0,-4-1 0,-3 3 0,-44-80 0,69 145 0,0 1 0,0-2 0,-2 2 0,1 1 0,-7-9 0,13 15 0,-1 0 0,-1 0 0,2 0 0,-1 0 0,0 0 0,0 0 0,0 0 0,1 0 0,-2 1 0,1-1 0,0 0 0,0 1 0,0-1 0,-1 1 0,1-1 0,0 1 0,0 0 0,0-1 0,-1 1 0,1 0 0,0 0 0,-2 0 0,2 0 0,1 0 0,-1 0 0,-1 0 0,0 0 0,1 1 0,1-1 0,-1 0 0,-1 1 0,0-1 0,1 1 0,0-1 0,1 1 0,-1 0 0,0-1 0,-1 1 0,1 0 0,0 0 0,1 0 0,-1 0 0,0 0 0,-1 0 0,2 0 0,-1 0 0,0 0 0,1 0 0,-1 3 0,-5 10 0,1 0 0,0 0 0,1 1 0,1 0 0,-1 0 0,3 0 0,-2 24 0,23-110 0,-12-74 0,-8 144 0,0 0 0,0 0 0,0 0 0,0 0 0,0-1 0,1 1 0,-1 0 0,0 0 0,2 0 0,-2 0 0,0 0 0,0 0 0,1-1 0,-1 1 0,1 0 0,-1 0 0,1 0 0,1 0 0,-1 0 0,0 0 0,-1 1 0,0-1 0,1 0 0,0 1 0,3-2 0,-3 2 0,2 0 0,-2-1 0,1 1 0,-1 0 0,2 0 0,-1 1 0,-2-1 0,3 0 0,-1 1 0,1-1 0,-3 1 0,2-1 0,0 1 0,2 1 0,8 6 0,0-1 0,0 1 0,15 15 0,-20-18 0,39 35-455,-2 3 0,43 51 0,-76-79-6371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06655-758F-4D20-8B43-BF48990DC96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40DEC-9CAF-4EE3-BB92-1C73C99289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4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3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8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D185-A809-8118-5854-4FE6AB10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A94D79-F488-6662-20DD-3A037E7B6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2D8EBC-C97E-AE4E-19FA-39EDE1FCA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E648A-57E4-7EB9-799E-470A03A4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36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F489-8590-EF19-753B-09713231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4E7EA6-89A8-8DB4-449F-DBBE7B7B1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D58021-B190-C25F-3F2F-75353D39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5356C0-A2CD-CB9F-3688-9BF723174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51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3D1E4-AE35-4592-9859-77D6C9FC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BBD469-460B-4225-8387-B2BAF29F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EF6A4B-0605-4E6D-8EE1-03497E60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6C091-2212-4B44-859C-67567669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DBC04B-AF75-41F9-B518-936E24B9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5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1A852-A856-42FF-AF81-9D4F1EDC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59210-A4CF-429A-8693-3180E0E7A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4AF53-B18E-4F03-8889-1ED003E6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1E453-98F6-4416-96B2-A136A998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139E7-DB40-4AE4-B67B-A8E006E8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72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C1896-35F7-4F88-8509-4C8D926A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A3A51-F62C-4357-8368-A034386B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9A8C6-A4D0-4DEF-8A23-DDC0FE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F3410-DDC5-4A07-9A5F-724DED95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1CF84-B680-49DC-A005-C837C1CF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8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9B2E9-2082-4225-BD1B-6B341C56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15A51-5718-462D-956F-9862344F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1D48-DB9A-4F46-A0E6-F7792FB3D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B41C3-A4FF-40E1-BA44-9AC2D069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6CDFBD-5106-4E8D-B8AC-4AFB3FEA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FE59AD-709F-44F5-9F8A-F28ECC61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9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D684C-216E-4899-ACEC-F0387698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8E68F-F617-442E-89DD-A9BE0EE1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FC4374-403E-4702-B062-4B7A4430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2D2332-6E22-4C71-BE91-29DF9CE7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C1773-515E-413C-92E9-8B36768E1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E2D42-A3AB-4B3C-AF13-469BD3ED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E83BD1-FF91-44F7-A384-7B483CDD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90ED68-07E4-49AE-95EF-434AF5A1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E769A-10AC-4277-BD1F-E811C2A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E8AC10-46F4-4CAA-9077-CF17A587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05E2E7-3ABF-4800-94C0-EE56629F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690E4-B18E-4D71-85E9-06F4AB01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2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BBE1B3-E1C2-427E-84D2-D3A32E8F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0EFF1C-9258-4BFD-BF71-DFA46B4A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F1D-E41D-41C2-ABDB-98EF8154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4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CB57F-2E61-445C-B0BA-889CE824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70370-1672-4E01-AD6D-62A4DF382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44607-556C-4790-8273-90B81D02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AD30E2-C32E-4475-B702-2F0C8579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D5B38-4787-4E78-86BB-F249386D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527F0F-ABC6-4C87-89B0-F52FDE3E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62C5-63BA-452E-8FD5-2AF2F774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525E7E-7AE8-4399-BCAB-3A78182F4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99615-C67C-46CA-B40F-A1B3851C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AD000-F73F-41B0-BD0D-DFA09ACA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5D6907-7044-4E40-81EF-8016BFA9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3C647-E921-48B2-ABAA-BAA5148F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2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135BA-FE27-4876-93A0-877F98C2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93C790-4EBB-44DA-8C9E-41C925C26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A8357-23DD-40BB-81E1-AD5A9C5C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A2DBB-DCF8-40DD-8AE2-BFDD6E63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81DE9-050E-40E1-A81E-102FB89C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7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4AD81F-2E8D-4B7F-A928-A3DB78AA2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B94DE-50D6-4C03-9574-A4CBA8DC2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E60C6-2D76-479A-9201-C349CF1A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F416F-1DE8-4B89-9827-53A5F865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898F4-CFA4-4170-A8B7-1A740649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89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75BC56-9AA4-44E2-B653-A392F28B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05DC8-3CAA-4DB8-8579-E931C857A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A3CA2-B817-4A52-8F08-A382AD1E8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792C4-9F52-4A26-B036-7580CF1F8160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B7B75-C8A9-4C37-A524-47910A6D1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E5F4A-4254-4555-9729-567EDAC94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28.jpeg"/><Relationship Id="rId7" Type="http://schemas.openxmlformats.org/officeDocument/2006/relationships/image" Target="../media/image32.gif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customXml" Target="../ink/ink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A55F0-3358-47D9-B5B0-81318AEF6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035"/>
            <a:ext cx="9144000" cy="2387600"/>
          </a:xfrm>
        </p:spPr>
        <p:txBody>
          <a:bodyPr/>
          <a:lstStyle/>
          <a:p>
            <a: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PROJECT:CORING</a:t>
            </a:r>
            <a:b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法師</a:t>
            </a:r>
            <a:r>
              <a:rPr lang="zh-TW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動畫規劃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60A39A8-91E3-4050-899E-1A06E4ADBA03}"/>
              </a:ext>
            </a:extLst>
          </p:cNvPr>
          <p:cNvSpPr txBox="1">
            <a:spLocks/>
          </p:cNvSpPr>
          <p:nvPr/>
        </p:nvSpPr>
        <p:spPr>
          <a:xfrm>
            <a:off x="838200" y="3967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14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>
            <a:extLst>
              <a:ext uri="{FF2B5EF4-FFF2-40B4-BE49-F238E27FC236}">
                <a16:creationId xmlns:a16="http://schemas.microsoft.com/office/drawing/2014/main" id="{050D2275-A892-A83A-03D7-4DFC9A0DB8D3}"/>
              </a:ext>
            </a:extLst>
          </p:cNvPr>
          <p:cNvSpPr/>
          <p:nvPr/>
        </p:nvSpPr>
        <p:spPr>
          <a:xfrm>
            <a:off x="392724" y="1247338"/>
            <a:ext cx="2287867" cy="1150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464280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動畫銜接圖一</a:t>
            </a:r>
            <a:b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22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操作角色行動時</a:t>
            </a:r>
            <a:endParaRPr lang="zh-CN" altLang="en-US" sz="2800" b="1" spc="3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44BCC396-9779-3350-B8B3-7D0905E4035C}"/>
              </a:ext>
            </a:extLst>
          </p:cNvPr>
          <p:cNvSpPr/>
          <p:nvPr/>
        </p:nvSpPr>
        <p:spPr>
          <a:xfrm>
            <a:off x="2379229" y="4045182"/>
            <a:ext cx="1427826" cy="53073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呼吸循環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37220D-D764-24A7-B121-73805039D0F0}"/>
              </a:ext>
            </a:extLst>
          </p:cNvPr>
          <p:cNvSpPr/>
          <p:nvPr/>
        </p:nvSpPr>
        <p:spPr>
          <a:xfrm>
            <a:off x="4141176" y="2402037"/>
            <a:ext cx="1684001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預備啟動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積蓄力量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BFB90697-B3E2-E9EB-5616-AE4BADA09E32}"/>
              </a:ext>
            </a:extLst>
          </p:cNvPr>
          <p:cNvSpPr/>
          <p:nvPr/>
        </p:nvSpPr>
        <p:spPr>
          <a:xfrm>
            <a:off x="5502540" y="1133752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走跑循環動畫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ED4468-EE6C-3E51-035A-0D0AC01B69FF}"/>
              </a:ext>
            </a:extLst>
          </p:cNvPr>
          <p:cNvSpPr/>
          <p:nvPr/>
        </p:nvSpPr>
        <p:spPr>
          <a:xfrm>
            <a:off x="8890546" y="1010397"/>
            <a:ext cx="1427826" cy="9761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移動中接觸敵方單位時將其推開一格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CC448C-C329-4314-8520-BAF53E9F2808}"/>
              </a:ext>
            </a:extLst>
          </p:cNvPr>
          <p:cNvSpPr/>
          <p:nvPr/>
        </p:nvSpPr>
        <p:spPr>
          <a:xfrm>
            <a:off x="10221182" y="2139654"/>
            <a:ext cx="1578094" cy="9761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移動到終點時對範圍內敵人進行攻擊</a:t>
            </a:r>
            <a:b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前搖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攻擊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後搖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6498A5-C24F-8FA7-EA8B-AEF547728F26}"/>
              </a:ext>
            </a:extLst>
          </p:cNvPr>
          <p:cNvSpPr/>
          <p:nvPr/>
        </p:nvSpPr>
        <p:spPr>
          <a:xfrm>
            <a:off x="6910210" y="3266967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施放強化自身技能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A678C5-E51D-83B3-004D-9B2076EAE668}"/>
              </a:ext>
            </a:extLst>
          </p:cNvPr>
          <p:cNvSpPr/>
          <p:nvPr/>
        </p:nvSpPr>
        <p:spPr>
          <a:xfrm>
            <a:off x="7624123" y="4755903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施放增益友軍技能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7E394090-77FA-20F7-DBCB-B233AAF360F6}"/>
              </a:ext>
            </a:extLst>
          </p:cNvPr>
          <p:cNvCxnSpPr>
            <a:cxnSpLocks/>
          </p:cNvCxnSpPr>
          <p:nvPr/>
        </p:nvCxnSpPr>
        <p:spPr>
          <a:xfrm flipV="1">
            <a:off x="3807055" y="3130779"/>
            <a:ext cx="536344" cy="1047882"/>
          </a:xfrm>
          <a:prstGeom prst="bentConnector2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98DF75B0-BF4C-1147-2B9A-9958FDF808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26259" y="1736275"/>
            <a:ext cx="482582" cy="298356"/>
          </a:xfrm>
          <a:prstGeom prst="bentConnector3">
            <a:avLst>
              <a:gd name="adj1" fmla="val -192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6564408B-0F91-0B56-F7EF-12A63D2830F8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5825177" y="1853705"/>
            <a:ext cx="391276" cy="908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69E7FB81-EA3F-C68C-E2C3-EDF0DFDE7AB0}"/>
              </a:ext>
            </a:extLst>
          </p:cNvPr>
          <p:cNvCxnSpPr>
            <a:cxnSpLocks/>
          </p:cNvCxnSpPr>
          <p:nvPr/>
        </p:nvCxnSpPr>
        <p:spPr>
          <a:xfrm>
            <a:off x="5833100" y="2890643"/>
            <a:ext cx="1799815" cy="36753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2299B5C9-0704-7ABB-BCC5-2ACA59A82EA9}"/>
              </a:ext>
            </a:extLst>
          </p:cNvPr>
          <p:cNvCxnSpPr>
            <a:endCxn id="19" idx="1"/>
          </p:cNvCxnSpPr>
          <p:nvPr/>
        </p:nvCxnSpPr>
        <p:spPr>
          <a:xfrm rot="16200000" flipH="1">
            <a:off x="5638355" y="3130112"/>
            <a:ext cx="2000068" cy="197146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286F9B6A-D2B8-3A9D-E53F-00EEECEECB4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16200000" flipH="1">
            <a:off x="7596588" y="4014454"/>
            <a:ext cx="768983" cy="713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BB9AC7F0-C412-A098-BEB1-C878B3527131}"/>
              </a:ext>
            </a:extLst>
          </p:cNvPr>
          <p:cNvCxnSpPr>
            <a:stCxn id="9" idx="0"/>
            <a:endCxn id="17" idx="3"/>
          </p:cNvCxnSpPr>
          <p:nvPr/>
        </p:nvCxnSpPr>
        <p:spPr>
          <a:xfrm rot="16200000" flipH="1">
            <a:off x="8278378" y="-893164"/>
            <a:ext cx="225696" cy="6816099"/>
          </a:xfrm>
          <a:prstGeom prst="bentConnector4">
            <a:avLst>
              <a:gd name="adj1" fmla="val -893876"/>
              <a:gd name="adj2" fmla="val 10335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70F54F87-9F8B-A692-8B39-CAC6F0D84A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79714" y="2157996"/>
            <a:ext cx="1390158" cy="810203"/>
          </a:xfrm>
          <a:prstGeom prst="bentConnector3">
            <a:avLst>
              <a:gd name="adj1" fmla="val 53162"/>
            </a:avLst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B66ED5D0-3C67-4F1C-BCE3-E26FD735CC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42843" y="2655735"/>
            <a:ext cx="2902197" cy="1298142"/>
          </a:xfrm>
          <a:prstGeom prst="bentConnector3">
            <a:avLst>
              <a:gd name="adj1" fmla="val 209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D2401CB0-BC4C-1776-9D8C-00220CF3BDC4}"/>
              </a:ext>
            </a:extLst>
          </p:cNvPr>
          <p:cNvSpPr/>
          <p:nvPr/>
        </p:nvSpPr>
        <p:spPr>
          <a:xfrm>
            <a:off x="7001698" y="1133749"/>
            <a:ext cx="1262433" cy="7254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移動中止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跑停動畫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5920A302-8C73-5792-1EB6-B9F2D7F1550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257527" y="-599742"/>
            <a:ext cx="123355" cy="3361630"/>
          </a:xfrm>
          <a:prstGeom prst="bentConnector3">
            <a:avLst>
              <a:gd name="adj1" fmla="val -2779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FB204881-BA51-3F31-B13A-95895FAF419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29548" y="-617533"/>
            <a:ext cx="123355" cy="3361630"/>
          </a:xfrm>
          <a:prstGeom prst="bentConnector3">
            <a:avLst>
              <a:gd name="adj1" fmla="val 28531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46">
            <a:extLst>
              <a:ext uri="{FF2B5EF4-FFF2-40B4-BE49-F238E27FC236}">
                <a16:creationId xmlns:a16="http://schemas.microsoft.com/office/drawing/2014/main" id="{1CA90B4D-9EBA-57C6-8AC8-E992F9641C7F}"/>
              </a:ext>
            </a:extLst>
          </p:cNvPr>
          <p:cNvCxnSpPr>
            <a:stCxn id="17" idx="2"/>
            <a:endCxn id="19" idx="3"/>
          </p:cNvCxnSpPr>
          <p:nvPr/>
        </p:nvCxnSpPr>
        <p:spPr>
          <a:xfrm rot="5400000">
            <a:off x="9031055" y="3136706"/>
            <a:ext cx="2000068" cy="19582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810609B1-16EF-93C0-C534-4FAB0505EF07}"/>
              </a:ext>
            </a:extLst>
          </p:cNvPr>
          <p:cNvCxnSpPr>
            <a:endCxn id="4" idx="2"/>
          </p:cNvCxnSpPr>
          <p:nvPr/>
        </p:nvCxnSpPr>
        <p:spPr>
          <a:xfrm rot="10800000" flipV="1">
            <a:off x="3093142" y="3115811"/>
            <a:ext cx="8336858" cy="1460104"/>
          </a:xfrm>
          <a:prstGeom prst="bentConnector4">
            <a:avLst>
              <a:gd name="adj1" fmla="val -169"/>
              <a:gd name="adj2" fmla="val 2364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B0F46F86-0EAD-F635-4D0D-5BF1988C4065}"/>
              </a:ext>
            </a:extLst>
          </p:cNvPr>
          <p:cNvCxnSpPr>
            <a:cxnSpLocks/>
          </p:cNvCxnSpPr>
          <p:nvPr/>
        </p:nvCxnSpPr>
        <p:spPr>
          <a:xfrm rot="5400000" flipH="1">
            <a:off x="5454708" y="2412228"/>
            <a:ext cx="899941" cy="5244894"/>
          </a:xfrm>
          <a:prstGeom prst="bentConnector3">
            <a:avLst>
              <a:gd name="adj1" fmla="val -62727"/>
            </a:avLst>
          </a:prstGeom>
          <a:ln w="222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5AEBBD76-EDD4-8CB7-38A5-7CE470202EBC}"/>
              </a:ext>
            </a:extLst>
          </p:cNvPr>
          <p:cNvSpPr/>
          <p:nvPr/>
        </p:nvSpPr>
        <p:spPr>
          <a:xfrm>
            <a:off x="610038" y="4953913"/>
            <a:ext cx="1769191" cy="5307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施放動作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視內容而定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A5337DA0-C1C3-B9AE-EA11-39F93C0A82D3}"/>
              </a:ext>
            </a:extLst>
          </p:cNvPr>
          <p:cNvCxnSpPr>
            <a:cxnSpLocks/>
            <a:stCxn id="4" idx="1"/>
            <a:endCxn id="156" idx="0"/>
          </p:cNvCxnSpPr>
          <p:nvPr/>
        </p:nvCxnSpPr>
        <p:spPr>
          <a:xfrm rot="10800000" flipV="1">
            <a:off x="1494635" y="4310549"/>
            <a:ext cx="884595" cy="6433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FB1366E9-E7E9-CE15-430F-E6BE0C3871EB}"/>
              </a:ext>
            </a:extLst>
          </p:cNvPr>
          <p:cNvSpPr/>
          <p:nvPr/>
        </p:nvSpPr>
        <p:spPr>
          <a:xfrm>
            <a:off x="510397" y="1487894"/>
            <a:ext cx="513183" cy="559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E2701D13-CE56-88EA-29D1-5CA33A2BACC9}"/>
              </a:ext>
            </a:extLst>
          </p:cNvPr>
          <p:cNvSpPr/>
          <p:nvPr/>
        </p:nvSpPr>
        <p:spPr>
          <a:xfrm>
            <a:off x="510397" y="1764702"/>
            <a:ext cx="513183" cy="55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D01E4AD-036E-FA1A-A9B4-32EF5C83A660}"/>
              </a:ext>
            </a:extLst>
          </p:cNvPr>
          <p:cNvSpPr/>
          <p:nvPr/>
        </p:nvSpPr>
        <p:spPr>
          <a:xfrm>
            <a:off x="510396" y="2046711"/>
            <a:ext cx="513183" cy="559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124DDA2-70EA-FBB4-F2A9-3EDDABAC5A7C}"/>
              </a:ext>
            </a:extLst>
          </p:cNvPr>
          <p:cNvSpPr txBox="1"/>
          <p:nvPr/>
        </p:nvSpPr>
        <p:spPr>
          <a:xfrm>
            <a:off x="1023579" y="1368351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若觸發前格必然觸發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AD582D72-9AB5-152A-F9F3-FFBA22BBDCCF}"/>
              </a:ext>
            </a:extLst>
          </p:cNvPr>
          <p:cNvSpPr txBox="1"/>
          <p:nvPr/>
        </p:nvSpPr>
        <p:spPr>
          <a:xfrm>
            <a:off x="1019743" y="16507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經常觸發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D3451E7-E96B-F5F0-7BE3-722BA0345EBD}"/>
              </a:ext>
            </a:extLst>
          </p:cNvPr>
          <p:cNvSpPr txBox="1"/>
          <p:nvPr/>
        </p:nvSpPr>
        <p:spPr>
          <a:xfrm>
            <a:off x="1012448" y="193130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未進行移動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EDCEFE02-3988-61E4-72E6-6830601D8573}"/>
              </a:ext>
            </a:extLst>
          </p:cNvPr>
          <p:cNvCxnSpPr>
            <a:stCxn id="9" idx="1"/>
          </p:cNvCxnSpPr>
          <p:nvPr/>
        </p:nvCxnSpPr>
        <p:spPr>
          <a:xfrm rot="10800000" flipV="1">
            <a:off x="3349870" y="2762014"/>
            <a:ext cx="791307" cy="12831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6A3A766-4D84-7301-8F3E-9F2F2FCABF40}"/>
              </a:ext>
            </a:extLst>
          </p:cNvPr>
          <p:cNvCxnSpPr>
            <a:cxnSpLocks/>
            <a:stCxn id="91" idx="2"/>
          </p:cNvCxnSpPr>
          <p:nvPr/>
        </p:nvCxnSpPr>
        <p:spPr>
          <a:xfrm rot="16200000" flipH="1">
            <a:off x="8691677" y="800458"/>
            <a:ext cx="470744" cy="25882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3FE8445-7EB0-DFC9-F00B-5E5E598093A2}"/>
              </a:ext>
            </a:extLst>
          </p:cNvPr>
          <p:cNvSpPr/>
          <p:nvPr/>
        </p:nvSpPr>
        <p:spPr>
          <a:xfrm>
            <a:off x="613697" y="5545964"/>
            <a:ext cx="1769191" cy="5307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蓄力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詠唱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持續集氣的循環動畫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04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1311EFC-8859-A2F8-87CA-F0A14722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7160"/>
            <a:ext cx="4236720" cy="39508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法師職業</a:t>
            </a:r>
            <a:r>
              <a:rPr lang="en-US" altLang="zh-TW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整體動作性格概述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1086716"/>
            <a:ext cx="115544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刺客的職業定位是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範圍傷害、遠程輸出、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屬性攻擊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冰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雷</a:t>
            </a:r>
            <a:r>
              <a:rPr lang="en-US" altLang="zh-TW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雙手或單手持握一把長的法杖，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優雅、莊重、挺拔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39DAAD7-1B77-DC27-F9DA-820B0D03A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1550"/>
            <a:ext cx="8542297" cy="383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0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「角色沒有被操作、無行動時」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的基礎動畫，待機動畫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有呼吸循環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呼吸起伏大 速度頻率慢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莊重、挺拔、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剪影形狀從後方俯視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呈現正三角形 或圓形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以斗篷構成剪影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575C965-39B7-9833-546F-F6DCD00A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15" y="3337560"/>
            <a:ext cx="2936960" cy="352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FF2279-EACE-F067-3B98-C05A7AA8A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" y="3337852"/>
            <a:ext cx="2478024" cy="352014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69A1D57-6D43-36BC-C447-2231F673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918" y="1993392"/>
            <a:ext cx="5593061" cy="48269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7458652-93E7-A6DD-D5CC-F8F23B611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9360" y="2656050"/>
            <a:ext cx="1955402" cy="211282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EBE4D2-EE48-F0FA-2762-20466EED6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590308" y="4867478"/>
            <a:ext cx="1971950" cy="1933845"/>
          </a:xfrm>
          <a:prstGeom prst="rect">
            <a:avLst/>
          </a:prstGeom>
        </p:spPr>
      </p:pic>
      <p:sp>
        <p:nvSpPr>
          <p:cNvPr id="15" name="文本框 80">
            <a:extLst>
              <a:ext uri="{FF2B5EF4-FFF2-40B4-BE49-F238E27FC236}">
                <a16:creationId xmlns:a16="http://schemas.microsoft.com/office/drawing/2014/main" id="{A22C7CC0-26C9-B86B-51CB-D66C4404B15C}"/>
              </a:ext>
            </a:extLst>
          </p:cNvPr>
          <p:cNvSpPr txBox="1"/>
          <p:nvPr/>
        </p:nvSpPr>
        <p:spPr>
          <a:xfrm>
            <a:off x="4754907" y="1965960"/>
            <a:ext cx="4040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法杖頂端</a:t>
            </a:r>
            <a:r>
              <a:rPr lang="zh-TW" altLang="en-US" sz="1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四個可動的部件有分離呼吸動畫</a:t>
            </a:r>
            <a:endParaRPr lang="en-US" altLang="zh-TW" sz="1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80">
            <a:extLst>
              <a:ext uri="{FF2B5EF4-FFF2-40B4-BE49-F238E27FC236}">
                <a16:creationId xmlns:a16="http://schemas.microsoft.com/office/drawing/2014/main" id="{15908B8B-F9B9-FFDE-B705-9CA2D6BE565C}"/>
              </a:ext>
            </a:extLst>
          </p:cNvPr>
          <p:cNvSpPr txBox="1"/>
          <p:nvPr/>
        </p:nvSpPr>
        <p:spPr>
          <a:xfrm>
            <a:off x="9723497" y="1949994"/>
            <a:ext cx="262362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手指有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用力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放鬆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循環動畫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與法杖部件頻率一致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6D0728-ED77-0B7A-2F1F-4E3EF64327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0749012" y="4115252"/>
            <a:ext cx="1825216" cy="117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7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782199"/>
            <a:ext cx="1155449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「當角色被玩家操作，正在規劃其移動路徑」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的預備出擊動畫，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有呼吸循環。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低重心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、莊嚴感、謹慎的肢體語言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，規劃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未被取消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時需要接到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或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TW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規劃被取消時需要接回</a:t>
            </a:r>
            <a:r>
              <a:rPr lang="en-US" altLang="zh-TW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】-</a:t>
            </a:r>
            <a:r>
              <a:rPr lang="zh-TW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有取消動畫</a:t>
            </a:r>
            <a:r>
              <a:rPr lang="en-US" altLang="zh-TW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8224A6-A370-498E-F84C-1808D2EDB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163" y="2140872"/>
            <a:ext cx="5703673" cy="4717127"/>
          </a:xfrm>
          <a:prstGeom prst="rect">
            <a:avLst/>
          </a:prstGeom>
        </p:spPr>
      </p:pic>
      <p:sp>
        <p:nvSpPr>
          <p:cNvPr id="6" name="文本框 80">
            <a:extLst>
              <a:ext uri="{FF2B5EF4-FFF2-40B4-BE49-F238E27FC236}">
                <a16:creationId xmlns:a16="http://schemas.microsoft.com/office/drawing/2014/main" id="{2836FC9E-A0CA-7B8E-FDD2-13AD12D6B251}"/>
              </a:ext>
            </a:extLst>
          </p:cNvPr>
          <p:cNvSpPr txBox="1"/>
          <p:nvPr/>
        </p:nvSpPr>
        <p:spPr>
          <a:xfrm>
            <a:off x="3359175" y="3171923"/>
            <a:ext cx="266228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法杖頂端可動部件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此時收緊在一起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B9F06E60-4C79-8671-9F36-C231CE1C0D91}"/>
              </a:ext>
            </a:extLst>
          </p:cNvPr>
          <p:cNvSpPr/>
          <p:nvPr/>
        </p:nvSpPr>
        <p:spPr>
          <a:xfrm rot="5400000">
            <a:off x="4293541" y="3991850"/>
            <a:ext cx="554985" cy="2385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BECA1E7-7152-09CE-5207-1A95B3BBD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76" y="3044043"/>
            <a:ext cx="2204121" cy="38139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5C9ED67-7411-4C06-C3AD-D3543C569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603" y="3044043"/>
            <a:ext cx="2204121" cy="3813956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B345CC9-B7FC-56F1-0A5B-A57A7C7CF6BB}"/>
              </a:ext>
            </a:extLst>
          </p:cNvPr>
          <p:cNvSpPr/>
          <p:nvPr/>
        </p:nvSpPr>
        <p:spPr>
          <a:xfrm>
            <a:off x="2379352" y="4289301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開始規劃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FB5DD02D-5E12-6F39-4713-27DF19C63A27}"/>
              </a:ext>
            </a:extLst>
          </p:cNvPr>
          <p:cNvSpPr/>
          <p:nvPr/>
        </p:nvSpPr>
        <p:spPr>
          <a:xfrm>
            <a:off x="8651360" y="4283201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規劃取消</a:t>
            </a:r>
          </a:p>
        </p:txBody>
      </p:sp>
    </p:spTree>
    <p:extLst>
      <p:ext uri="{BB962C8B-B14F-4D97-AF65-F5344CB8AC3E}">
        <p14:creationId xmlns:p14="http://schemas.microsoft.com/office/powerpoint/2010/main" val="78581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「當路徑規劃被確定後，角色開始沿路線走跑」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，邏輯上分為三個階段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起動</a:t>
            </a:r>
            <a:r>
              <a:rPr lang="en-US" altLang="zh-TW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走跑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可循環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跑停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疾行感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、跑步而非走路、重心低、武器延續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路徑規劃橫置在身後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、且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中需流暢銜接到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推移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】/【5.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84BA8D2-25CB-BCF1-B68D-5492C9CA5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61" y="1861007"/>
            <a:ext cx="5665367" cy="49421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0DDC2E-0C38-EF04-FED6-2CA539504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78" y="4066557"/>
            <a:ext cx="4187165" cy="2791443"/>
          </a:xfrm>
          <a:prstGeom prst="rect">
            <a:avLst/>
          </a:prstGeom>
        </p:spPr>
      </p:pic>
      <p:sp>
        <p:nvSpPr>
          <p:cNvPr id="11" name="文本框 80">
            <a:extLst>
              <a:ext uri="{FF2B5EF4-FFF2-40B4-BE49-F238E27FC236}">
                <a16:creationId xmlns:a16="http://schemas.microsoft.com/office/drawing/2014/main" id="{DC49B40C-86AF-444A-BCFB-38808AB5A15D}"/>
              </a:ext>
            </a:extLst>
          </p:cNvPr>
          <p:cNvSpPr txBox="1"/>
          <p:nvPr/>
        </p:nvSpPr>
        <p:spPr>
          <a:xfrm>
            <a:off x="8639254" y="3334811"/>
            <a:ext cx="306658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動態參考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可播放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上身前傾 重心向前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02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走路 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walk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非跑步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7E9F2D-D6CE-5EB7-BB05-94C29CD63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80" y="1580093"/>
            <a:ext cx="5766376" cy="5132422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走路動畫時機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「劇情演出時、或移動距離很短時」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動作比較接近待機動畫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CF9F4E-2B14-B76A-3807-6681FB34C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776" y="1596781"/>
            <a:ext cx="3398357" cy="33983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514093F-C0C0-16CB-2D34-7353971B9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33" y="4683690"/>
            <a:ext cx="4448175" cy="2028825"/>
          </a:xfrm>
          <a:prstGeom prst="rect">
            <a:avLst/>
          </a:prstGeom>
        </p:spPr>
      </p:pic>
      <p:sp>
        <p:nvSpPr>
          <p:cNvPr id="12" name="文本框 80">
            <a:extLst>
              <a:ext uri="{FF2B5EF4-FFF2-40B4-BE49-F238E27FC236}">
                <a16:creationId xmlns:a16="http://schemas.microsoft.com/office/drawing/2014/main" id="{E4B07772-01A9-560B-472D-012B8B019755}"/>
              </a:ext>
            </a:extLst>
          </p:cNvPr>
          <p:cNvSpPr txBox="1"/>
          <p:nvPr/>
        </p:nvSpPr>
        <p:spPr>
          <a:xfrm>
            <a:off x="7286776" y="837063"/>
            <a:ext cx="426445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動態參考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可播放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堅定自信的步伐 上半身搖晃請弱一些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86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CC15A6C-D172-864F-94CA-B061AC5C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988" y="2377354"/>
            <a:ext cx="5680852" cy="430829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互動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「當移動路徑上有屬性地板時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如燃燒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，法師會在經過地塊時吸收其能量」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，需要與移動動作流暢銜接、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呈現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「法師一邊移動，一邊轉動法杖，將地塊上的能量抽走的感受」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與移動銜接流暢、無停滯感、帥氣轉動法杖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、且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 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需流暢銜接回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CB1058C-B0A4-207E-3BCE-AAEB3C8C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61" y="2961106"/>
            <a:ext cx="3972735" cy="34655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3D8B85-9FEB-4D37-D3F3-F940E257F7E5}"/>
              </a:ext>
            </a:extLst>
          </p:cNvPr>
          <p:cNvSpPr txBox="1"/>
          <p:nvPr/>
        </p:nvSpPr>
        <p:spPr>
          <a:xfrm>
            <a:off x="1020561" y="2986064"/>
            <a:ext cx="239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390F8479-522F-31B9-E509-11E30A164F12}"/>
              </a:ext>
            </a:extLst>
          </p:cNvPr>
          <p:cNvSpPr txBox="1"/>
          <p:nvPr/>
        </p:nvSpPr>
        <p:spPr>
          <a:xfrm>
            <a:off x="5591260" y="2386498"/>
            <a:ext cx="2398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經過屬性地塊時</a:t>
            </a:r>
            <a:br>
              <a:rPr lang="en-US" altLang="zh-TW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轉動法杖吸收之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3EC8FBD9-7060-2771-DAF4-0250F62FD015}"/>
              </a:ext>
            </a:extLst>
          </p:cNvPr>
          <p:cNvSpPr/>
          <p:nvPr/>
        </p:nvSpPr>
        <p:spPr>
          <a:xfrm>
            <a:off x="4745477" y="4369215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經過地塊</a:t>
            </a:r>
          </a:p>
        </p:txBody>
      </p:sp>
    </p:spTree>
    <p:extLst>
      <p:ext uri="{BB962C8B-B14F-4D97-AF65-F5344CB8AC3E}">
        <p14:creationId xmlns:p14="http://schemas.microsoft.com/office/powerpoint/2010/main" val="3902111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E2B2-BC58-08E8-1F58-4160633B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D1CAECE-224C-3BC4-FF1C-B0970EF7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484" y="3268813"/>
            <a:ext cx="3774478" cy="28625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3482CE6-DCCA-75B8-23E6-358FB213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發射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II】</a:t>
            </a:r>
            <a:r>
              <a:rPr lang="zh-TW" altLang="en-US" sz="20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用前一個動畫修改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1A9F76B-DA5D-ABF0-9F95-8921BBEF95CF}"/>
              </a:ext>
            </a:extLst>
          </p:cNvPr>
          <p:cNvSpPr txBox="1"/>
          <p:nvPr/>
        </p:nvSpPr>
        <p:spPr>
          <a:xfrm>
            <a:off x="394855" y="837063"/>
            <a:ext cx="1155449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發射動畫的時機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法師在先前經過地塊時吸收其能量後，「在直線上有敵人時射出累積的念力子彈」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需要與移動動作流暢銜接、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呈現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「法師一邊移動，一邊揮舞法杖，將身上的念力揮動拋出去」的效果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與移動銜接流暢、無停滯感、揮動法杖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發射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、且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 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發射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需流暢銜接回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154316-41C5-808F-6B4C-00CABBC16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43" y="3256383"/>
            <a:ext cx="3281429" cy="28625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7AB80C1-D747-3E32-3819-4BEB1D7952AC}"/>
              </a:ext>
            </a:extLst>
          </p:cNvPr>
          <p:cNvSpPr txBox="1"/>
          <p:nvPr/>
        </p:nvSpPr>
        <p:spPr>
          <a:xfrm>
            <a:off x="150543" y="2986064"/>
            <a:ext cx="239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85A1995D-3D3E-5C7A-DB67-4D4DB835C0C5}"/>
              </a:ext>
            </a:extLst>
          </p:cNvPr>
          <p:cNvSpPr txBox="1"/>
          <p:nvPr/>
        </p:nvSpPr>
        <p:spPr>
          <a:xfrm>
            <a:off x="4855794" y="2983914"/>
            <a:ext cx="2398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轉動時間可縮短</a:t>
            </a:r>
            <a:endParaRPr lang="en-US" altLang="zh-TW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35D47A-08A0-A7A1-42A2-39FCE5CE3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75" y="2986064"/>
            <a:ext cx="4739982" cy="3465577"/>
          </a:xfrm>
          <a:prstGeom prst="rect">
            <a:avLst/>
          </a:prstGeom>
        </p:spPr>
      </p:pic>
      <p:sp>
        <p:nvSpPr>
          <p:cNvPr id="4" name="箭號: 向右 3">
            <a:extLst>
              <a:ext uri="{FF2B5EF4-FFF2-40B4-BE49-F238E27FC236}">
                <a16:creationId xmlns:a16="http://schemas.microsoft.com/office/drawing/2014/main" id="{A4DA02E0-A069-FCAF-9DFD-BC23A2551465}"/>
              </a:ext>
            </a:extLst>
          </p:cNvPr>
          <p:cNvSpPr/>
          <p:nvPr/>
        </p:nvSpPr>
        <p:spPr>
          <a:xfrm>
            <a:off x="6790344" y="3948283"/>
            <a:ext cx="1329164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射出念彈</a:t>
            </a:r>
          </a:p>
        </p:txBody>
      </p:sp>
    </p:spTree>
    <p:extLst>
      <p:ext uri="{BB962C8B-B14F-4D97-AF65-F5344CB8AC3E}">
        <p14:creationId xmlns:p14="http://schemas.microsoft.com/office/powerpoint/2010/main" val="326927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4351-61BA-3174-9687-96082E76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CAAC40D-03CC-B8EA-5CF9-7DBAA2E5F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476" y="2327887"/>
            <a:ext cx="4103404" cy="440521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E74E4DB-4EFA-FD41-D95A-71C432621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845" y="3040401"/>
            <a:ext cx="3884549" cy="33886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F73460-31B0-ACBD-BA19-86499115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【4C.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發射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III】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C8EBB03-D8A3-5007-7AD1-0445672FC119}"/>
              </a:ext>
            </a:extLst>
          </p:cNvPr>
          <p:cNvSpPr txBox="1"/>
          <p:nvPr/>
        </p:nvSpPr>
        <p:spPr>
          <a:xfrm>
            <a:off x="394855" y="837063"/>
            <a:ext cx="1155449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「當移動路徑上有屬性地板時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如燃燒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，法師會在踩上地塊時吸收其能量」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，需要與移動動作流暢銜接、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呈現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「法師移動中踩上屬性地塊時，快速飄起旋轉一圈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轉身時法杖部件分解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並向前開掌施力，再接回移動動畫」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與移動銜接流暢、無停滯感、快速旋身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、且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 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需流暢銜接回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83373D-AE57-85DE-F49B-9BCCB1D4E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0401"/>
            <a:ext cx="3884549" cy="3388649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1F712A48-9F5F-4797-4901-22CF05B42D67}"/>
              </a:ext>
            </a:extLst>
          </p:cNvPr>
          <p:cNvSpPr/>
          <p:nvPr/>
        </p:nvSpPr>
        <p:spPr>
          <a:xfrm>
            <a:off x="3449200" y="4403865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浮起轉身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B482D10C-43DB-8781-2B27-385C96131908}"/>
              </a:ext>
            </a:extLst>
          </p:cNvPr>
          <p:cNvSpPr/>
          <p:nvPr/>
        </p:nvSpPr>
        <p:spPr>
          <a:xfrm>
            <a:off x="7747338" y="4403865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接回移動</a:t>
            </a:r>
          </a:p>
        </p:txBody>
      </p:sp>
    </p:spTree>
    <p:extLst>
      <p:ext uri="{BB962C8B-B14F-4D97-AF65-F5344CB8AC3E}">
        <p14:creationId xmlns:p14="http://schemas.microsoft.com/office/powerpoint/2010/main" val="113548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737526"/>
            <a:ext cx="11554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「當角色移動到終點，且武器範圍內有敵人時，會以終結技攻擊範圍內的敵人」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本技能是最主要的傷害來源，有完整的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「前搖預備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終結攻擊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後搖收招」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過程，體現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累積到爆發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的完整表演。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穩定且堅毅、不動如山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、果斷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穿越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4CBDDE-AC8D-68DF-D276-DDD3A35F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96" y="1914886"/>
            <a:ext cx="9125712" cy="4946458"/>
          </a:xfrm>
          <a:prstGeom prst="rect">
            <a:avLst/>
          </a:prstGeom>
        </p:spPr>
      </p:pic>
      <p:sp>
        <p:nvSpPr>
          <p:cNvPr id="7" name="文本框 80">
            <a:extLst>
              <a:ext uri="{FF2B5EF4-FFF2-40B4-BE49-F238E27FC236}">
                <a16:creationId xmlns:a16="http://schemas.microsoft.com/office/drawing/2014/main" id="{65929781-E9A0-0535-D6DE-A933D3001A51}"/>
              </a:ext>
            </a:extLst>
          </p:cNvPr>
          <p:cNvSpPr txBox="1"/>
          <p:nvPr/>
        </p:nvSpPr>
        <p:spPr>
          <a:xfrm>
            <a:off x="7642420" y="1959719"/>
            <a:ext cx="441990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法杖敲地這下是發射攻擊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需要切分這個動畫，使其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能連續敲地發射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878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234348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52465A-C309-FAB5-5BD6-DA8EED2967E9}"/>
              </a:ext>
            </a:extLst>
          </p:cNvPr>
          <p:cNvSpPr txBox="1"/>
          <p:nvPr/>
        </p:nvSpPr>
        <p:spPr>
          <a:xfrm>
            <a:off x="394855" y="610575"/>
            <a:ext cx="115544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比終結技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更加誇張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，表現為側身蓄力到轉身發射，有從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左右邊蓄力兩種攻擊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可重複銜接撥放。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人物飄起離地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、身體扭轉、擊出時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衝擊力強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E566D4-2B5E-180E-4DEE-0B6E8D91E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339575"/>
            <a:ext cx="10119360" cy="5518425"/>
          </a:xfrm>
          <a:prstGeom prst="rect">
            <a:avLst/>
          </a:prstGeom>
        </p:spPr>
      </p:pic>
      <p:sp>
        <p:nvSpPr>
          <p:cNvPr id="6" name="文本框 80">
            <a:extLst>
              <a:ext uri="{FF2B5EF4-FFF2-40B4-BE49-F238E27FC236}">
                <a16:creationId xmlns:a16="http://schemas.microsoft.com/office/drawing/2014/main" id="{617AC61E-6920-86D8-B49F-788A838C9692}"/>
              </a:ext>
            </a:extLst>
          </p:cNvPr>
          <p:cNvSpPr txBox="1"/>
          <p:nvPr/>
        </p:nvSpPr>
        <p:spPr>
          <a:xfrm>
            <a:off x="1625669" y="4187708"/>
            <a:ext cx="1144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人物飄起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80">
            <a:extLst>
              <a:ext uri="{FF2B5EF4-FFF2-40B4-BE49-F238E27FC236}">
                <a16:creationId xmlns:a16="http://schemas.microsoft.com/office/drawing/2014/main" id="{AA1D5E4B-B07D-21CB-ADD0-99262CCFCDDB}"/>
              </a:ext>
            </a:extLst>
          </p:cNvPr>
          <p:cNvSpPr txBox="1"/>
          <p:nvPr/>
        </p:nvSpPr>
        <p:spPr>
          <a:xfrm>
            <a:off x="3346705" y="6139929"/>
            <a:ext cx="4419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法杖部件運動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分散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震動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11" name="文本框 80">
            <a:extLst>
              <a:ext uri="{FF2B5EF4-FFF2-40B4-BE49-F238E27FC236}">
                <a16:creationId xmlns:a16="http://schemas.microsoft.com/office/drawing/2014/main" id="{71DEEC54-FCFE-5026-0E6E-A60CE03A237F}"/>
              </a:ext>
            </a:extLst>
          </p:cNvPr>
          <p:cNvSpPr txBox="1"/>
          <p:nvPr/>
        </p:nvSpPr>
        <p:spPr>
          <a:xfrm>
            <a:off x="5972113" y="6318903"/>
            <a:ext cx="4419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b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瞬間收緊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12" name="文本框 80">
            <a:extLst>
              <a:ext uri="{FF2B5EF4-FFF2-40B4-BE49-F238E27FC236}">
                <a16:creationId xmlns:a16="http://schemas.microsoft.com/office/drawing/2014/main" id="{ABDB75B1-89A6-E432-19D2-EE67233AF152}"/>
              </a:ext>
            </a:extLst>
          </p:cNvPr>
          <p:cNvSpPr txBox="1"/>
          <p:nvPr/>
        </p:nvSpPr>
        <p:spPr>
          <a:xfrm>
            <a:off x="7921904" y="6373008"/>
            <a:ext cx="4419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放射時該側部件彈開</a:t>
            </a:r>
            <a:endParaRPr lang="en-US" altLang="zh-TW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A624B6DF-F7E5-554C-BA52-ED57914BE4D1}"/>
              </a:ext>
            </a:extLst>
          </p:cNvPr>
          <p:cNvSpPr/>
          <p:nvPr/>
        </p:nvSpPr>
        <p:spPr>
          <a:xfrm>
            <a:off x="5803543" y="5735057"/>
            <a:ext cx="443345" cy="271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F8FB7F24-4E89-C488-796D-E3FBEC5A38B2}"/>
              </a:ext>
            </a:extLst>
          </p:cNvPr>
          <p:cNvSpPr/>
          <p:nvPr/>
        </p:nvSpPr>
        <p:spPr>
          <a:xfrm>
            <a:off x="6804898" y="5735057"/>
            <a:ext cx="443345" cy="271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本框 80">
            <a:extLst>
              <a:ext uri="{FF2B5EF4-FFF2-40B4-BE49-F238E27FC236}">
                <a16:creationId xmlns:a16="http://schemas.microsoft.com/office/drawing/2014/main" id="{5C10DB4C-94DF-D3D5-98D1-80A37AB8FCAE}"/>
              </a:ext>
            </a:extLst>
          </p:cNvPr>
          <p:cNvSpPr txBox="1"/>
          <p:nvPr/>
        </p:nvSpPr>
        <p:spPr>
          <a:xfrm>
            <a:off x="9544205" y="4554879"/>
            <a:ext cx="233126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斗篷與馬尾被衝力揚起、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人物因後座力微震向後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需要切分這個動畫，使其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能連續敲地發射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6632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【6A/B.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en-US" altLang="zh-TW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TW" altLang="en-US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個動畫</a:t>
            </a:r>
            <a:r>
              <a:rPr lang="en-US" altLang="zh-TW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27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19479"/>
            <a:ext cx="1155449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「當角色移動到終點，且武器範圍內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無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敵人時，會對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自身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施放備戰技」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本技能的對象是自身，效果是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數值增幅或是得到增益，不需要複雜的動畫表現。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簡潔有力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、儀式感、自身加護、給自己打氣。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跑停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9908C5-B03E-0FEF-7011-1D5C455B0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003" y="2802956"/>
            <a:ext cx="2663615" cy="376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AC85C65-9D35-A96D-86A3-EFD7CC64ADAA}"/>
              </a:ext>
            </a:extLst>
          </p:cNvPr>
          <p:cNvSpPr txBox="1"/>
          <p:nvPr/>
        </p:nvSpPr>
        <p:spPr>
          <a:xfrm>
            <a:off x="1946979" y="2218181"/>
            <a:ext cx="3439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動作一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左手用力抓握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握拳 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2F633-E2DC-9038-52B9-99410CBC8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386" y="2784149"/>
            <a:ext cx="2267888" cy="347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21">
            <a:extLst>
              <a:ext uri="{FF2B5EF4-FFF2-40B4-BE49-F238E27FC236}">
                <a16:creationId xmlns:a16="http://schemas.microsoft.com/office/drawing/2014/main" id="{177E7EB1-C1F7-941B-B7F5-03F967BDF785}"/>
              </a:ext>
            </a:extLst>
          </p:cNvPr>
          <p:cNvSpPr txBox="1"/>
          <p:nvPr/>
        </p:nvSpPr>
        <p:spPr>
          <a:xfrm>
            <a:off x="7265739" y="2199374"/>
            <a:ext cx="3439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舉杖立誓 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也是複用戰士的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086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【7A/B.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</a:t>
            </a:r>
            <a:r>
              <a:rPr lang="en-US" altLang="zh-TW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TW" altLang="en-US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個動畫</a:t>
            </a:r>
            <a:r>
              <a:rPr lang="en-US" altLang="zh-TW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19479"/>
            <a:ext cx="1155449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「當角色移動到終點，且武器範圍內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友軍時，會對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友軍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施放支援技」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本技能的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對象是友軍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，效果是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給予數值增幅或是施加增益，不需要複雜的動畫表現。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向外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施加、儀式感、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給予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加護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路徑規劃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【7.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6569A-FBB8-540D-3CD3-233B13FEDF3D}"/>
              </a:ext>
            </a:extLst>
          </p:cNvPr>
          <p:cNvSpPr txBox="1"/>
          <p:nvPr/>
        </p:nvSpPr>
        <p:spPr>
          <a:xfrm>
            <a:off x="1901857" y="2584599"/>
            <a:ext cx="3399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向前揮手施予加護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A6900C-585C-B96E-693A-459F8737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2" y="2961335"/>
            <a:ext cx="3664400" cy="292080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F47042-2C21-9835-2900-C8FDC0E93C7C}"/>
              </a:ext>
            </a:extLst>
          </p:cNvPr>
          <p:cNvSpPr txBox="1"/>
          <p:nvPr/>
        </p:nvSpPr>
        <p:spPr>
          <a:xfrm>
            <a:off x="6884975" y="2566486"/>
            <a:ext cx="5064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武器向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前方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給予友軍加護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r>
              <a:rPr lang="en-US" altLang="zh-TW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285E1AC3-1DAD-7B0B-5786-6E96F25AEAE7}"/>
                  </a:ext>
                </a:extLst>
              </p14:cNvPr>
              <p14:cNvContentPartPr/>
              <p14:nvPr/>
            </p14:nvContentPartPr>
            <p14:xfrm>
              <a:off x="11327748" y="5776491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285E1AC3-1DAD-7B0B-5786-6E96F25AEA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8748" y="576749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0109598-E9B1-59E8-4BA7-A2B104086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61335"/>
            <a:ext cx="53530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186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AEE4-CB08-BDF9-4621-4D7D21DB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6111D77-7D6A-D2BE-4CBC-05983C55F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5" y="1682496"/>
            <a:ext cx="9520135" cy="51755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879CE41-3B12-9029-542E-10A061A7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【0.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登場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898AC8E-46B3-A341-05E5-895486247C30}"/>
              </a:ext>
            </a:extLst>
          </p:cNvPr>
          <p:cNvSpPr txBox="1"/>
          <p:nvPr/>
        </p:nvSpPr>
        <p:spPr>
          <a:xfrm>
            <a:off x="394855" y="7116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登場動畫的時機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「戰鬥開始時，我方角色出現在戰場上時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敵方增援出現在戰場時」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莊嚴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、堅定、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漂浮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、低重力感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銜接到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21">
            <a:extLst>
              <a:ext uri="{FF2B5EF4-FFF2-40B4-BE49-F238E27FC236}">
                <a16:creationId xmlns:a16="http://schemas.microsoft.com/office/drawing/2014/main" id="{0F7FD5F4-6E7A-AC4F-5D58-0886254E6A09}"/>
              </a:ext>
            </a:extLst>
          </p:cNvPr>
          <p:cNvSpPr txBox="1"/>
          <p:nvPr/>
        </p:nvSpPr>
        <p:spPr>
          <a:xfrm>
            <a:off x="7715856" y="1759729"/>
            <a:ext cx="343950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四方部件排列整齊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法杖頂端中心部件</a:t>
            </a:r>
            <a:b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在此時出現</a:t>
            </a: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42C038CE-992D-1BC7-3F36-A10B7DEC8AD2}"/>
              </a:ext>
            </a:extLst>
          </p:cNvPr>
          <p:cNvSpPr/>
          <p:nvPr/>
        </p:nvSpPr>
        <p:spPr>
          <a:xfrm rot="20544698">
            <a:off x="7062784" y="2543532"/>
            <a:ext cx="657750" cy="558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323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6136DC1C-0B8B-8EC5-B79D-E4616EBED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663" y="3671375"/>
            <a:ext cx="3246672" cy="274323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26042F5-4237-DF0F-5730-CEFC1211B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" y="3671375"/>
            <a:ext cx="3246672" cy="27432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27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19479"/>
            <a:ext cx="11554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「玩家在角色待機的情況下可自由施放奧義。」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奧義的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效果很多樣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，大多可以分為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「對自身施法、對他人施法、召喚物件等」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動畫製作上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簡單的奧義以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備戰與支援的動畫為基底增加演出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來實現</a:t>
            </a:r>
            <a:endParaRPr lang="en-US" altLang="zh-TW" sz="16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更強的儀式感、更多的演出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6569A-FBB8-540D-3CD3-233B13FEDF3D}"/>
              </a:ext>
            </a:extLst>
          </p:cNvPr>
          <p:cNvSpPr txBox="1"/>
          <p:nvPr/>
        </p:nvSpPr>
        <p:spPr>
          <a:xfrm>
            <a:off x="920816" y="2723588"/>
            <a:ext cx="64191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對自身施法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動作深化</a:t>
            </a:r>
            <a:r>
              <a:rPr lang="en-US" altLang="zh-TW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旋轉武器後</a:t>
            </a:r>
            <a:r>
              <a:rPr lang="en-US" altLang="zh-TW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舉劍立誓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1C6A92-2865-20D8-45AE-1495F181B771}"/>
              </a:ext>
            </a:extLst>
          </p:cNvPr>
          <p:cNvSpPr txBox="1"/>
          <p:nvPr/>
        </p:nvSpPr>
        <p:spPr>
          <a:xfrm>
            <a:off x="3086526" y="4651502"/>
            <a:ext cx="158980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  <a:p>
            <a:pPr>
              <a:spcAft>
                <a:spcPts val="600"/>
              </a:spcAft>
            </a:pPr>
            <a:endParaRPr lang="en-US" altLang="zh-TW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518DD1-708E-CB6C-AE69-D42F8CBCFBFF}"/>
              </a:ext>
            </a:extLst>
          </p:cNvPr>
          <p:cNvSpPr txBox="1"/>
          <p:nvPr/>
        </p:nvSpPr>
        <p:spPr>
          <a:xfrm>
            <a:off x="6667756" y="2719939"/>
            <a:ext cx="49508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對他人施法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支援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動作深化</a:t>
            </a:r>
            <a:r>
              <a:rPr lang="en-US" altLang="zh-TW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旋轉武器後</a:t>
            </a:r>
            <a:r>
              <a:rPr lang="en-US" altLang="zh-TW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指向他人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DFD08D-62B2-0ED3-A086-D1766098FA5A}"/>
              </a:ext>
            </a:extLst>
          </p:cNvPr>
          <p:cNvSpPr txBox="1"/>
          <p:nvPr/>
        </p:nvSpPr>
        <p:spPr>
          <a:xfrm>
            <a:off x="8825994" y="4605166"/>
            <a:ext cx="158980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  <a:p>
            <a:pPr>
              <a:spcAft>
                <a:spcPts val="600"/>
              </a:spcAft>
            </a:pPr>
            <a:endParaRPr lang="en-US" altLang="zh-TW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916FEC-4417-A7F5-7143-FBE00625E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45" y="3429000"/>
            <a:ext cx="2186400" cy="335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1EE712B-DDEF-13E3-7C6E-EF2A24DCE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169" y="4343400"/>
            <a:ext cx="3055192" cy="167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D2BE2ED-63CE-256D-1460-9DD6AD6879CE}"/>
              </a:ext>
            </a:extLst>
          </p:cNvPr>
          <p:cNvCxnSpPr/>
          <p:nvPr/>
        </p:nvCxnSpPr>
        <p:spPr>
          <a:xfrm>
            <a:off x="5614416" y="2386584"/>
            <a:ext cx="0" cy="4471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42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6569A-FBB8-540D-3CD3-233B13FEDF3D}"/>
              </a:ext>
            </a:extLst>
          </p:cNvPr>
          <p:cNvSpPr txBox="1"/>
          <p:nvPr/>
        </p:nvSpPr>
        <p:spPr>
          <a:xfrm>
            <a:off x="531535" y="670899"/>
            <a:ext cx="1043726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部分奧義有「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跨回合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持續詠唱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集氣」的需求，</a:t>
            </a:r>
            <a:r>
              <a:rPr lang="zh-TW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集氣動作需要設計成</a:t>
            </a:r>
            <a:r>
              <a:rPr lang="zh-TW" altLang="en-US" sz="2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能循環的持續動畫</a:t>
            </a:r>
            <a:endParaRPr lang="en-US" altLang="zh-TW" sz="16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跨回合持續詠唱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集氣的奧義動畫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結構是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:【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集氣動作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循環播放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施放動作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DFD08D-62B2-0ED3-A086-D1766098FA5A}"/>
              </a:ext>
            </a:extLst>
          </p:cNvPr>
          <p:cNvSpPr txBox="1"/>
          <p:nvPr/>
        </p:nvSpPr>
        <p:spPr>
          <a:xfrm>
            <a:off x="5655969" y="3228695"/>
            <a:ext cx="158980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  <a:p>
            <a:pPr>
              <a:spcAft>
                <a:spcPts val="600"/>
              </a:spcAft>
            </a:pPr>
            <a:endParaRPr lang="en-US" altLang="zh-TW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图片包含 游戏机&#10;&#10;描述已自动生成">
            <a:extLst>
              <a:ext uri="{FF2B5EF4-FFF2-40B4-BE49-F238E27FC236}">
                <a16:creationId xmlns:a16="http://schemas.microsoft.com/office/drawing/2014/main" id="{701291A2-6FA1-A408-85B8-8B521D1C3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87" y="1718801"/>
            <a:ext cx="2899208" cy="39018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E5B2719-5DF7-450E-31F0-8EA0674E6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602" y="1291215"/>
            <a:ext cx="2347412" cy="426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884B54C-AF18-2B4A-C239-FCFF00B0C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82" y="3298816"/>
            <a:ext cx="1518361" cy="156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474495D-6890-8B0B-C983-A49EDC333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82" y="1718801"/>
            <a:ext cx="1518361" cy="151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C6C2918-684D-06C4-C63A-76E99803F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550" y="1294217"/>
            <a:ext cx="2864850" cy="214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6ACC457-C2ED-8A76-64BB-FC4C76EB0510}"/>
              </a:ext>
            </a:extLst>
          </p:cNvPr>
          <p:cNvSpPr txBox="1"/>
          <p:nvPr/>
        </p:nvSpPr>
        <p:spPr>
          <a:xfrm>
            <a:off x="607927" y="5721026"/>
            <a:ext cx="6419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集氣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循環時，角色的布匹與頭髮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有氣流從下往上吹拂的動態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B7367767-500C-CE3B-C644-9941DD39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74" y="4924597"/>
            <a:ext cx="2039387" cy="143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FECC308-B35E-D0AA-06F7-83C9B4388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551" y="3946433"/>
            <a:ext cx="2864850" cy="161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F9D829-8B88-67E3-D2B1-C734414EE971}"/>
              </a:ext>
            </a:extLst>
          </p:cNvPr>
          <p:cNvSpPr txBox="1"/>
          <p:nvPr/>
        </p:nvSpPr>
        <p:spPr>
          <a:xfrm>
            <a:off x="6561683" y="5659612"/>
            <a:ext cx="555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時，將本來蜷曲蓄能的姿勢伸展開來，力量向前方釋放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669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A5D8-AED4-6D60-DE36-A63498C9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215D0-70DF-5ABC-7B71-710A64A4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【9A/B. 90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度轉身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27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6047153-20B9-594D-47C8-132C0DE2147C}"/>
              </a:ext>
            </a:extLst>
          </p:cNvPr>
          <p:cNvSpPr txBox="1"/>
          <p:nvPr/>
        </p:nvSpPr>
        <p:spPr>
          <a:xfrm>
            <a:off x="394855" y="837063"/>
            <a:ext cx="115544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九十度轉身動畫的時機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「當角色沒有移動，轉而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面向左側或右側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方向時」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流暢銜接到另一方向的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有向左與向右轉、共兩個方向</a:t>
            </a:r>
            <a:endParaRPr lang="en-US" altLang="zh-TW" sz="16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80">
            <a:extLst>
              <a:ext uri="{FF2B5EF4-FFF2-40B4-BE49-F238E27FC236}">
                <a16:creationId xmlns:a16="http://schemas.microsoft.com/office/drawing/2014/main" id="{0F096829-2B04-DB89-FF8B-7F28B97D9550}"/>
              </a:ext>
            </a:extLst>
          </p:cNvPr>
          <p:cNvSpPr txBox="1"/>
          <p:nvPr/>
        </p:nvSpPr>
        <p:spPr>
          <a:xfrm>
            <a:off x="2595014" y="5810399"/>
            <a:ext cx="139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向左轉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D564EE-8161-D06E-55BD-49472F8C5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06084"/>
            <a:ext cx="5965802" cy="353883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4441DFC-6633-F215-AD24-2EB176EF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309360" y="2206084"/>
            <a:ext cx="5882640" cy="3538833"/>
          </a:xfrm>
          <a:prstGeom prst="rect">
            <a:avLst/>
          </a:prstGeom>
        </p:spPr>
      </p:pic>
      <p:sp>
        <p:nvSpPr>
          <p:cNvPr id="14" name="文本框 80">
            <a:extLst>
              <a:ext uri="{FF2B5EF4-FFF2-40B4-BE49-F238E27FC236}">
                <a16:creationId xmlns:a16="http://schemas.microsoft.com/office/drawing/2014/main" id="{49599AEE-549C-CE65-6163-166F57C3A38D}"/>
              </a:ext>
            </a:extLst>
          </p:cNvPr>
          <p:cNvSpPr txBox="1"/>
          <p:nvPr/>
        </p:nvSpPr>
        <p:spPr>
          <a:xfrm>
            <a:off x="8898301" y="5799242"/>
            <a:ext cx="139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向右轉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5932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D44F-3FE7-1A4A-A2F2-88352D1D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9626C-1048-4257-267E-FB652594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【9C.180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度轉身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27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9C2E9A5-244B-D9AD-26C3-AD46B71525AD}"/>
              </a:ext>
            </a:extLst>
          </p:cNvPr>
          <p:cNvSpPr txBox="1"/>
          <p:nvPr/>
        </p:nvSpPr>
        <p:spPr>
          <a:xfrm>
            <a:off x="394855" y="837063"/>
            <a:ext cx="115544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一百八十度轉身動畫的時機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「當角色沒有移動，轉而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正後方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方向時」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流暢銜接到後側方向的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轉動方向只需要一側</a:t>
            </a:r>
            <a:endParaRPr lang="en-US" altLang="zh-TW" sz="16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E0305B-9F80-B0DB-9A08-BE72497FC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97" y="1792652"/>
            <a:ext cx="8182660" cy="45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48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>
            <a:extLst>
              <a:ext uri="{FF2B5EF4-FFF2-40B4-BE49-F238E27FC236}">
                <a16:creationId xmlns:a16="http://schemas.microsoft.com/office/drawing/2014/main" id="{050D2275-A892-A83A-03D7-4DFC9A0DB8D3}"/>
              </a:ext>
            </a:extLst>
          </p:cNvPr>
          <p:cNvSpPr/>
          <p:nvPr/>
        </p:nvSpPr>
        <p:spPr>
          <a:xfrm>
            <a:off x="392724" y="1247338"/>
            <a:ext cx="2287867" cy="1150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464280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動畫銜接圖二</a:t>
            </a:r>
            <a:b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22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TW" altLang="en-US" sz="22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操作角色時</a:t>
            </a:r>
            <a:endParaRPr lang="zh-CN" altLang="en-US" sz="2800" b="1" spc="3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hlinkClick r:id="rId2" action="ppaction://hlinksldjump"/>
            <a:extLst>
              <a:ext uri="{FF2B5EF4-FFF2-40B4-BE49-F238E27FC236}">
                <a16:creationId xmlns:a16="http://schemas.microsoft.com/office/drawing/2014/main" id="{44BCC396-9779-3350-B8B3-7D0905E4035C}"/>
              </a:ext>
            </a:extLst>
          </p:cNvPr>
          <p:cNvSpPr/>
          <p:nvPr/>
        </p:nvSpPr>
        <p:spPr>
          <a:xfrm>
            <a:off x="2771953" y="4001221"/>
            <a:ext cx="1427826" cy="53073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呼吸循環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D37220D-D764-24A7-B121-73805039D0F0}"/>
              </a:ext>
            </a:extLst>
          </p:cNvPr>
          <p:cNvSpPr/>
          <p:nvPr/>
        </p:nvSpPr>
        <p:spPr>
          <a:xfrm>
            <a:off x="4533900" y="2358076"/>
            <a:ext cx="1684001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面擊、背擊、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側擊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BFB90697-B3E2-E9EB-5616-AE4BADA09E32}"/>
              </a:ext>
            </a:extLst>
          </p:cNvPr>
          <p:cNvSpPr/>
          <p:nvPr/>
        </p:nvSpPr>
        <p:spPr>
          <a:xfrm>
            <a:off x="5895264" y="1089791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正面倒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背面倒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ED4468-EE6C-3E51-035A-0D0AC01B69FF}"/>
              </a:ext>
            </a:extLst>
          </p:cNvPr>
          <p:cNvSpPr/>
          <p:nvPr/>
        </p:nvSpPr>
        <p:spPr>
          <a:xfrm>
            <a:off x="7930749" y="2223794"/>
            <a:ext cx="1659963" cy="9761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昏厥萎靡 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循環動畫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A678C5-E51D-83B3-004D-9B2076EAE668}"/>
              </a:ext>
            </a:extLst>
          </p:cNvPr>
          <p:cNvSpPr/>
          <p:nvPr/>
        </p:nvSpPr>
        <p:spPr>
          <a:xfrm>
            <a:off x="8016847" y="4711942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</a:t>
            </a:r>
            <a:r>
              <a:rPr lang="zh-TW" altLang="en-US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警戒狀態</a:t>
            </a:r>
          </a:p>
          <a:p>
            <a:pPr algn="ctr"/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預備攻擊姿勢</a:t>
            </a:r>
            <a:endParaRPr lang="zh-CN" altLang="en-US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7E394090-77FA-20F7-DBCB-B233AAF360F6}"/>
              </a:ext>
            </a:extLst>
          </p:cNvPr>
          <p:cNvCxnSpPr>
            <a:cxnSpLocks/>
          </p:cNvCxnSpPr>
          <p:nvPr/>
        </p:nvCxnSpPr>
        <p:spPr>
          <a:xfrm flipV="1">
            <a:off x="4199779" y="3086818"/>
            <a:ext cx="536344" cy="10478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B0F46F86-0EAD-F635-4D0D-5BF1988C4065}"/>
              </a:ext>
            </a:extLst>
          </p:cNvPr>
          <p:cNvCxnSpPr>
            <a:cxnSpLocks/>
          </p:cNvCxnSpPr>
          <p:nvPr/>
        </p:nvCxnSpPr>
        <p:spPr>
          <a:xfrm rot="5400000" flipH="1">
            <a:off x="5847432" y="2368267"/>
            <a:ext cx="899941" cy="5244894"/>
          </a:xfrm>
          <a:prstGeom prst="bentConnector3">
            <a:avLst>
              <a:gd name="adj1" fmla="val -62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5AEBBD76-EDD4-8CB7-38A5-7CE470202EBC}"/>
              </a:ext>
            </a:extLst>
          </p:cNvPr>
          <p:cNvSpPr/>
          <p:nvPr/>
        </p:nvSpPr>
        <p:spPr>
          <a:xfrm>
            <a:off x="1002762" y="5417241"/>
            <a:ext cx="1769191" cy="5307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休閒待機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久未動作觸發休閒動作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A5337DA0-C1C3-B9AE-EA11-39F93C0A82D3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793311" y="4266588"/>
            <a:ext cx="978642" cy="11653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FB1366E9-E7E9-CE15-430F-E6BE0C3871EB}"/>
              </a:ext>
            </a:extLst>
          </p:cNvPr>
          <p:cNvSpPr/>
          <p:nvPr/>
        </p:nvSpPr>
        <p:spPr>
          <a:xfrm>
            <a:off x="510397" y="1487894"/>
            <a:ext cx="513183" cy="559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E2701D13-CE56-88EA-29D1-5CA33A2BACC9}"/>
              </a:ext>
            </a:extLst>
          </p:cNvPr>
          <p:cNvSpPr/>
          <p:nvPr/>
        </p:nvSpPr>
        <p:spPr>
          <a:xfrm>
            <a:off x="510397" y="1764702"/>
            <a:ext cx="513183" cy="55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D01E4AD-036E-FA1A-A9B4-32EF5C83A660}"/>
              </a:ext>
            </a:extLst>
          </p:cNvPr>
          <p:cNvSpPr/>
          <p:nvPr/>
        </p:nvSpPr>
        <p:spPr>
          <a:xfrm>
            <a:off x="510396" y="2046711"/>
            <a:ext cx="513183" cy="559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124DDA2-70EA-FBB4-F2A9-3EDDABAC5A7C}"/>
              </a:ext>
            </a:extLst>
          </p:cNvPr>
          <p:cNvSpPr txBox="1"/>
          <p:nvPr/>
        </p:nvSpPr>
        <p:spPr>
          <a:xfrm>
            <a:off x="1023579" y="1368351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若觸發前格必然觸發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AD582D72-9AB5-152A-F9F3-FFBA22BBDCCF}"/>
              </a:ext>
            </a:extLst>
          </p:cNvPr>
          <p:cNvSpPr txBox="1"/>
          <p:nvPr/>
        </p:nvSpPr>
        <p:spPr>
          <a:xfrm>
            <a:off x="1019743" y="16507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經常觸發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D3451E7-E96B-F5F0-7BE3-722BA0345EBD}"/>
              </a:ext>
            </a:extLst>
          </p:cNvPr>
          <p:cNvSpPr txBox="1"/>
          <p:nvPr/>
        </p:nvSpPr>
        <p:spPr>
          <a:xfrm>
            <a:off x="1012448" y="193130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未進行移動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EDCEFE02-3988-61E4-72E6-6830601D8573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3938954" y="2718053"/>
            <a:ext cx="594946" cy="12831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5418DB47-23BB-5546-FC0D-0C8E075645B6}"/>
              </a:ext>
            </a:extLst>
          </p:cNvPr>
          <p:cNvSpPr/>
          <p:nvPr/>
        </p:nvSpPr>
        <p:spPr>
          <a:xfrm>
            <a:off x="785448" y="2948847"/>
            <a:ext cx="1769191" cy="5307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開戰動畫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戰鬥開始時角色的表演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34CCA1-E259-5976-E2C6-DE1792E4248C}"/>
              </a:ext>
            </a:extLst>
          </p:cNvPr>
          <p:cNvSpPr/>
          <p:nvPr/>
        </p:nvSpPr>
        <p:spPr>
          <a:xfrm>
            <a:off x="4736123" y="4697288"/>
            <a:ext cx="1752600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</a:t>
            </a:r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追擊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沿用支援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終結技動畫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76B73521-E6D2-0716-2CD2-4008B845FD09}"/>
              </a:ext>
            </a:extLst>
          </p:cNvPr>
          <p:cNvCxnSpPr>
            <a:stCxn id="3" idx="3"/>
            <a:endCxn id="4" idx="0"/>
          </p:cNvCxnSpPr>
          <p:nvPr/>
        </p:nvCxnSpPr>
        <p:spPr>
          <a:xfrm>
            <a:off x="2554639" y="3214214"/>
            <a:ext cx="931227" cy="7870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3892E744-5544-7C49-C488-C4FA262785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89576" y="4227969"/>
            <a:ext cx="1269739" cy="1108804"/>
          </a:xfrm>
          <a:prstGeom prst="bentConnector3">
            <a:avLst>
              <a:gd name="adj1" fmla="val 10054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FED9F031-B7F9-1DB6-6A43-17ACCD2760B1}"/>
              </a:ext>
            </a:extLst>
          </p:cNvPr>
          <p:cNvCxnSpPr>
            <a:cxnSpLocks/>
          </p:cNvCxnSpPr>
          <p:nvPr/>
        </p:nvCxnSpPr>
        <p:spPr>
          <a:xfrm flipV="1">
            <a:off x="6217901" y="1818111"/>
            <a:ext cx="391276" cy="6355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0D8AC58-5D05-DAEE-0D72-432CEAC31C0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217901" y="2711873"/>
            <a:ext cx="1712848" cy="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D7007E7-55FB-CC4B-0106-F9D3998D66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21371" y="3035771"/>
            <a:ext cx="649910" cy="7344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63B6455A-AABD-5FAA-C5A2-79DFAC24995A}"/>
              </a:ext>
            </a:extLst>
          </p:cNvPr>
          <p:cNvSpPr/>
          <p:nvPr/>
        </p:nvSpPr>
        <p:spPr>
          <a:xfrm>
            <a:off x="6413539" y="3650032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</a:t>
            </a:r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反擊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沿用終結技動畫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906A5EE-4086-9A99-DE9D-F6D2C08413D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08688" y="533108"/>
            <a:ext cx="1777427" cy="5158797"/>
          </a:xfrm>
          <a:prstGeom prst="bentConnector3">
            <a:avLst>
              <a:gd name="adj1" fmla="val -855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E35E907-F091-F72C-2DC7-0DA54240C40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211300" y="4415268"/>
            <a:ext cx="1401123" cy="282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D286EB8-675F-E7E7-BA29-3388F8FC58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90987" y="4257794"/>
            <a:ext cx="221376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B5602B2F-2189-D7AC-DF61-6B4865354C69}"/>
              </a:ext>
            </a:extLst>
          </p:cNvPr>
          <p:cNvCxnSpPr>
            <a:cxnSpLocks/>
          </p:cNvCxnSpPr>
          <p:nvPr/>
        </p:nvCxnSpPr>
        <p:spPr>
          <a:xfrm rot="10800000">
            <a:off x="3934789" y="4531954"/>
            <a:ext cx="797565" cy="53211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8630488D-FDFC-2C1B-0E46-30B375B3735A}"/>
              </a:ext>
            </a:extLst>
          </p:cNvPr>
          <p:cNvSpPr/>
          <p:nvPr/>
        </p:nvSpPr>
        <p:spPr>
          <a:xfrm>
            <a:off x="9483143" y="4711942"/>
            <a:ext cx="1427826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警戒攻擊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施放增益友軍技能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36F24601-ABAC-2C37-7603-CDCD0AC8B32B}"/>
              </a:ext>
            </a:extLst>
          </p:cNvPr>
          <p:cNvCxnSpPr>
            <a:stCxn id="67" idx="2"/>
            <a:endCxn id="4" idx="2"/>
          </p:cNvCxnSpPr>
          <p:nvPr/>
        </p:nvCxnSpPr>
        <p:spPr>
          <a:xfrm rot="5400000" flipH="1">
            <a:off x="6391490" y="1626330"/>
            <a:ext cx="899941" cy="6711190"/>
          </a:xfrm>
          <a:prstGeom prst="bentConnector3">
            <a:avLst>
              <a:gd name="adj1" fmla="val -722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hlinkClick r:id="rId3" action="ppaction://hlinksldjump"/>
            <a:extLst>
              <a:ext uri="{FF2B5EF4-FFF2-40B4-BE49-F238E27FC236}">
                <a16:creationId xmlns:a16="http://schemas.microsoft.com/office/drawing/2014/main" id="{C321D986-A366-C57A-C648-E56A11FB6799}"/>
              </a:ext>
            </a:extLst>
          </p:cNvPr>
          <p:cNvSpPr/>
          <p:nvPr/>
        </p:nvSpPr>
        <p:spPr>
          <a:xfrm>
            <a:off x="3986743" y="1557138"/>
            <a:ext cx="1684001" cy="7199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17.</a:t>
            </a:r>
            <a:r>
              <a:rPr lang="zh-TW" altLang="en-US" sz="16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受擊退</a:t>
            </a:r>
            <a:endParaRPr lang="en-US" altLang="zh-TW" sz="16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待定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4001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6DBF-1F7C-FC1A-424E-50F1B409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01AABF4B-F9E4-C2E5-20A1-2ADA8D6D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21" y="2938951"/>
            <a:ext cx="2040253" cy="353040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DD78BAB-BAFD-7F91-FE7C-B4D2FDD5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94" y="2938952"/>
            <a:ext cx="2040253" cy="35304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C4B9343-23B1-2A73-6EDC-CA10A37D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【10.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跪姿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765B10F-F617-B187-B55C-F2EFCDD7826B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「敵方領袖登場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施法時，小兵會以跪姿迎接」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敬重感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、忠誠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跪下變為跪姿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需維持循環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，跪姿結束再接回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D383F5-D275-8FF6-73FE-B83E834E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986" y="2145113"/>
            <a:ext cx="3531864" cy="4552008"/>
          </a:xfrm>
          <a:prstGeom prst="rect">
            <a:avLst/>
          </a:prstGeom>
        </p:spPr>
      </p:pic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935D9AE7-96B5-E5D2-BE1D-105142DB622F}"/>
              </a:ext>
            </a:extLst>
          </p:cNvPr>
          <p:cNvSpPr/>
          <p:nvPr/>
        </p:nvSpPr>
        <p:spPr>
          <a:xfrm>
            <a:off x="3004605" y="5849627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待機開始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3199E690-BAB4-8990-328C-48BD70878B65}"/>
              </a:ext>
            </a:extLst>
          </p:cNvPr>
          <p:cNvSpPr/>
          <p:nvPr/>
        </p:nvSpPr>
        <p:spPr>
          <a:xfrm>
            <a:off x="7397664" y="5849627"/>
            <a:ext cx="1133856" cy="6617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接回待機</a:t>
            </a:r>
          </a:p>
        </p:txBody>
      </p:sp>
    </p:spTree>
    <p:extLst>
      <p:ext uri="{BB962C8B-B14F-4D97-AF65-F5344CB8AC3E}">
        <p14:creationId xmlns:p14="http://schemas.microsoft.com/office/powerpoint/2010/main" val="1177765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8E68F4A-0403-13B1-CACB-EB6EA987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10" y="2239050"/>
            <a:ext cx="2942683" cy="35763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【11A/B.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TW" altLang="en-US" sz="16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個動畫</a:t>
            </a:r>
            <a:r>
              <a:rPr lang="en-US" altLang="zh-TW" sz="16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「角色受到傷害時」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的動畫，時長短而有力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短促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、辨識度高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再銜接回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】(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【12.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】/【14.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】)</a:t>
            </a: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參考圖的動態可能過大，需要斟酌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182229-5AB4-FF7A-7F45-092E834DC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741" y="2417045"/>
            <a:ext cx="2795322" cy="29550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077ADE-37FC-F335-1103-8EC2C6F75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8" y="2417045"/>
            <a:ext cx="2423735" cy="33512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0E747A-E8F2-E32F-BB4F-73752D29A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46254" y="2626909"/>
            <a:ext cx="3351230" cy="28005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8B5C62E-CC4F-BF25-C971-394C563CEE21}"/>
              </a:ext>
            </a:extLst>
          </p:cNvPr>
          <p:cNvSpPr txBox="1"/>
          <p:nvPr/>
        </p:nvSpPr>
        <p:spPr>
          <a:xfrm>
            <a:off x="1344383" y="5932060"/>
            <a:ext cx="6419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正面受擊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身體向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彎曲</a:t>
            </a:r>
            <a:endParaRPr lang="en-US" altLang="zh-TW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5AEF5E-A89C-E417-F799-6A4F33C1C647}"/>
              </a:ext>
            </a:extLst>
          </p:cNvPr>
          <p:cNvSpPr txBox="1"/>
          <p:nvPr/>
        </p:nvSpPr>
        <p:spPr>
          <a:xfrm>
            <a:off x="8038261" y="5926322"/>
            <a:ext cx="3033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背面受擊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身體向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後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彎曲</a:t>
            </a:r>
            <a:endParaRPr lang="en-US" altLang="zh-TW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50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9489-40A1-7CE2-DB28-B3017E37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AA6DA-F05F-0F74-B9F9-F7CCC658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 面朝上倒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27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653E281-A5A1-324F-0BDD-33E9A3247AD2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「角色血量歸零時」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的動畫，接在受擊之後播放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辨識度高、悲壯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747D9E-CA7C-DF3E-4A47-AE77A20DAE0B}"/>
              </a:ext>
            </a:extLst>
          </p:cNvPr>
          <p:cNvSpPr txBox="1"/>
          <p:nvPr/>
        </p:nvSpPr>
        <p:spPr>
          <a:xfrm>
            <a:off x="2558072" y="6020937"/>
            <a:ext cx="7947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受致命傷   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跪姿以武器撐地、顫抖搖晃 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徹底力竭後倒地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正面與反面各一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0270F-2B98-96B1-515D-7A243903F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466" y="2516353"/>
            <a:ext cx="2557216" cy="340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E6FA1F8-7CC7-A44B-D69A-E0ED2659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822" y="3563229"/>
            <a:ext cx="3516923" cy="234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D8A0D76-44F5-1CE8-B20C-C9ED8DFFD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49" y="2516353"/>
            <a:ext cx="2680586" cy="329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49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 面朝下倒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用刺客的修改</a:t>
            </a:r>
            <a:endParaRPr lang="zh-CN" altLang="en-US" sz="2700" b="1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「角色血量歸零時」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的動畫，接在受擊之後播放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隱忍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、辨識度高、雙膝跪地 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死亡動畫用刺客的為基底修改，需要作出些許差異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動作微不同、節奏微不同</a:t>
            </a:r>
            <a:endParaRPr lang="en-US" altLang="zh-TW" sz="16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B5C62E-CC4F-BF25-C971-394C563CEE21}"/>
              </a:ext>
            </a:extLst>
          </p:cNvPr>
          <p:cNvSpPr txBox="1"/>
          <p:nvPr/>
        </p:nvSpPr>
        <p:spPr>
          <a:xfrm>
            <a:off x="2558072" y="6020937"/>
            <a:ext cx="7947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受致命傷   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雙膝跪地搖晃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試圖用杖柄支撐住 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徹底力竭後面朝下倒地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42FD40-87A5-1F07-3689-DE8ACEA29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26" y="2982474"/>
            <a:ext cx="2219033" cy="28474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0DA02EF-573B-D828-3C48-EC0BD5BC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567" y="3261787"/>
            <a:ext cx="2345155" cy="248586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03696CE-EBA6-3B86-DBD2-985982534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825" y="2982473"/>
            <a:ext cx="2345154" cy="28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45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【12AA.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II-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主角死亡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主角專用死亡動畫的時機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「我方全體角色死亡時」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的動畫，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若主角早已死亡，就從地面軀體開始播放動畫；若剛剛死亡就銜接受擊動畫撥放。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神聖感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心臟飛離後轉為軀殼的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哀傷感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】/【12.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主角死亡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B5C62E-CC4F-BF25-C971-394C563CEE21}"/>
              </a:ext>
            </a:extLst>
          </p:cNvPr>
          <p:cNvSpPr txBox="1"/>
          <p:nvPr/>
        </p:nvSpPr>
        <p:spPr>
          <a:xfrm>
            <a:off x="95519" y="6020937"/>
            <a:ext cx="12096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正側面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死亡倒地姿勢    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身體緩緩上浮，心臟慢慢飄離軀體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心臟突加速，沖出畫面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身體氣力被抽空、浮力同時消失落地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E52EACC-5EF9-111D-83F1-73A6ED9FD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" y="3307474"/>
            <a:ext cx="2277403" cy="151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CE48DAF-CFC5-E12A-C9B5-F87E508D6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58" y="2218928"/>
            <a:ext cx="5483469" cy="361021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68BCD0A-30A9-EDCE-AC5C-4F286390B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812" y="2543158"/>
            <a:ext cx="2961749" cy="296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694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B7C9C926-734A-717A-5F20-46E5701B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5" y="2035738"/>
            <a:ext cx="3255462" cy="48222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80625A6-A393-C479-D405-BFD2CBD1B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246" y="2035737"/>
            <a:ext cx="3888408" cy="404247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【13A/B.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休閒待機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755471"/>
            <a:ext cx="1155449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休閒待機的時機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「角色在未被操作也未受到傷害的狀態下，經過一段時間後自動播放」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目的是為了讓人物看起來更加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生動鮮活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，持續時間較長，要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在休閒待機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pose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持續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3~5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秒後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再接回待機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與待機狀態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差異化、靜態轉動態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6569A-FBB8-540D-3CD3-233B13FEDF3D}"/>
              </a:ext>
            </a:extLst>
          </p:cNvPr>
          <p:cNvSpPr txBox="1"/>
          <p:nvPr/>
        </p:nvSpPr>
        <p:spPr>
          <a:xfrm>
            <a:off x="468593" y="5576489"/>
            <a:ext cx="346276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法杖旋轉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角色左手彎起施法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法杖頂端四部件分離成</a:t>
            </a: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花瓣排列並旋轉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中心部件反向旋轉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88D4792E-8A56-A936-DF98-D002E5CB4150}"/>
              </a:ext>
            </a:extLst>
          </p:cNvPr>
          <p:cNvSpPr txBox="1"/>
          <p:nvPr/>
        </p:nvSpPr>
        <p:spPr>
          <a:xfrm>
            <a:off x="6794246" y="5693800"/>
            <a:ext cx="442544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法杖橫置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角色將法杖慢慢地擺成橫向的，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轉動法杖過程中，</a:t>
            </a: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頂端部件延遲跟隨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停在橫向一會兒後，再轉回待機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7675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【14A.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19479"/>
            <a:ext cx="1155449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「角色被數度背刺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失衡值過高時會暈眩」，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動畫表現上需要跟待機差異明顯、高辨識度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委靡軟爛、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緩慢搖晃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必須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6569A-FBB8-540D-3CD3-233B13FEDF3D}"/>
              </a:ext>
            </a:extLst>
          </p:cNvPr>
          <p:cNvSpPr txBox="1"/>
          <p:nvPr/>
        </p:nvSpPr>
        <p:spPr>
          <a:xfrm>
            <a:off x="3584808" y="5778190"/>
            <a:ext cx="9258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身體前傾低頭，頭部與肩部</a:t>
            </a:r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緩慢</a:t>
            </a:r>
            <a:r>
              <a:rPr lang="zh-TW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搖晃、畫圈</a:t>
            </a:r>
            <a:endParaRPr lang="en-US" altLang="zh-TW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6DCB7E-505A-5AB1-E55B-BB4B2F0C9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86" y="2545296"/>
            <a:ext cx="2274752" cy="30743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8F9A15-2C45-F147-B04C-992E2064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420" y="2193579"/>
            <a:ext cx="2619915" cy="33482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48A147-AE35-81DC-EE33-C12FFCEF4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817" y="2193579"/>
            <a:ext cx="2507036" cy="3427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02E1243-F2FC-55A7-CF62-5714B6FCD362}"/>
                  </a:ext>
                </a:extLst>
              </p14:cNvPr>
              <p14:cNvContentPartPr/>
              <p14:nvPr/>
            </p14:nvContentPartPr>
            <p14:xfrm>
              <a:off x="2578002" y="3005571"/>
              <a:ext cx="685800" cy="9817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02E1243-F2FC-55A7-CF62-5714B6FCD3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9002" y="2996571"/>
                <a:ext cx="703440" cy="9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375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E06F514-6D8B-9704-6B4A-05CCB23EC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72" y="1887331"/>
            <a:ext cx="7384217" cy="400141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B726DA9-0D9D-FFD5-668D-8860A9C5E592}"/>
              </a:ext>
            </a:extLst>
          </p:cNvPr>
          <p:cNvSpPr/>
          <p:nvPr/>
        </p:nvSpPr>
        <p:spPr>
          <a:xfrm>
            <a:off x="9880235" y="4905033"/>
            <a:ext cx="2156922" cy="55962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【14B.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解除暈眩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7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複用戰士的</a:t>
            </a:r>
            <a:endParaRPr lang="zh-CN" altLang="en-US" sz="27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解暈動畫的時機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「當角色的暈眩時間結束時」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暈眩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300A3437-3275-DBAF-50AD-319FDD6C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55" y="2230569"/>
            <a:ext cx="2325707" cy="33149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26">
                <a:extLst>
                  <a:ext uri="{FF2B5EF4-FFF2-40B4-BE49-F238E27FC236}">
                    <a16:creationId xmlns:a16="http://schemas.microsoft.com/office/drawing/2014/main" id="{76146407-BCED-A3CD-5200-468AD5242C10}"/>
                  </a:ext>
                </a:extLst>
              </p14:cNvPr>
              <p14:cNvContentPartPr/>
              <p14:nvPr/>
            </p14:nvContentPartPr>
            <p14:xfrm>
              <a:off x="1734324" y="2751032"/>
              <a:ext cx="701162" cy="1016400"/>
            </p14:xfrm>
          </p:contentPart>
        </mc:Choice>
        <mc:Fallback xmlns="">
          <p:pic>
            <p:nvPicPr>
              <p:cNvPr id="6" name="墨迹 26">
                <a:extLst>
                  <a:ext uri="{FF2B5EF4-FFF2-40B4-BE49-F238E27FC236}">
                    <a16:creationId xmlns:a16="http://schemas.microsoft.com/office/drawing/2014/main" id="{76146407-BCED-A3CD-5200-468AD5242C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5681" y="2742034"/>
                <a:ext cx="718808" cy="103403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0">
            <a:extLst>
              <a:ext uri="{FF2B5EF4-FFF2-40B4-BE49-F238E27FC236}">
                <a16:creationId xmlns:a16="http://schemas.microsoft.com/office/drawing/2014/main" id="{69CA71B5-FE8B-A254-EEE6-C5A6D39AC27B}"/>
              </a:ext>
            </a:extLst>
          </p:cNvPr>
          <p:cNvSpPr txBox="1"/>
          <p:nvPr/>
        </p:nvSpPr>
        <p:spPr>
          <a:xfrm>
            <a:off x="3176307" y="5850199"/>
            <a:ext cx="26488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手摀住臉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80">
            <a:extLst>
              <a:ext uri="{FF2B5EF4-FFF2-40B4-BE49-F238E27FC236}">
                <a16:creationId xmlns:a16="http://schemas.microsoft.com/office/drawing/2014/main" id="{8F40468B-4FFF-82D3-9D88-8484F5EEDCE9}"/>
              </a:ext>
            </a:extLst>
          </p:cNvPr>
          <p:cNvSpPr txBox="1"/>
          <p:nvPr/>
        </p:nvSpPr>
        <p:spPr>
          <a:xfrm>
            <a:off x="5917939" y="5854710"/>
            <a:ext cx="139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腰桿回正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0">
            <a:extLst>
              <a:ext uri="{FF2B5EF4-FFF2-40B4-BE49-F238E27FC236}">
                <a16:creationId xmlns:a16="http://schemas.microsoft.com/office/drawing/2014/main" id="{FFFF9059-8E65-1C7F-5E26-B907B2B3FF2F}"/>
              </a:ext>
            </a:extLst>
          </p:cNvPr>
          <p:cNvSpPr txBox="1"/>
          <p:nvPr/>
        </p:nvSpPr>
        <p:spPr>
          <a:xfrm>
            <a:off x="8215104" y="5850199"/>
            <a:ext cx="2921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手離開臉部、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甩甩頭想清醒過來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80">
            <a:extLst>
              <a:ext uri="{FF2B5EF4-FFF2-40B4-BE49-F238E27FC236}">
                <a16:creationId xmlns:a16="http://schemas.microsoft.com/office/drawing/2014/main" id="{9A42611D-4A9A-FED5-2DA2-50A3B6E64826}"/>
              </a:ext>
            </a:extLst>
          </p:cNvPr>
          <p:cNvSpPr txBox="1"/>
          <p:nvPr/>
        </p:nvSpPr>
        <p:spPr>
          <a:xfrm>
            <a:off x="9880235" y="5037560"/>
            <a:ext cx="228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TW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接回待機</a:t>
            </a:r>
            <a:endParaRPr lang="en-US" altLang="zh-TW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80">
            <a:extLst>
              <a:ext uri="{FF2B5EF4-FFF2-40B4-BE49-F238E27FC236}">
                <a16:creationId xmlns:a16="http://schemas.microsoft.com/office/drawing/2014/main" id="{62C90F80-5117-3DEC-591C-ADFE5B26C9C9}"/>
              </a:ext>
            </a:extLst>
          </p:cNvPr>
          <p:cNvSpPr txBox="1"/>
          <p:nvPr/>
        </p:nvSpPr>
        <p:spPr>
          <a:xfrm>
            <a:off x="1083744" y="5550192"/>
            <a:ext cx="1582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暈眩動畫</a:t>
            </a:r>
            <a:endParaRPr lang="en-US" altLang="zh-TW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33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13286</TotalTime>
  <Words>2898</Words>
  <Application>Microsoft Office PowerPoint</Application>
  <PresentationFormat>寬螢幕</PresentationFormat>
  <Paragraphs>213</Paragraphs>
  <Slides>28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微软雅黑</vt:lpstr>
      <vt:lpstr>微软雅黑</vt:lpstr>
      <vt:lpstr>Arial</vt:lpstr>
      <vt:lpstr>Office 主题​​</vt:lpstr>
      <vt:lpstr>PROJECT:CORING 法師動畫規劃</vt:lpstr>
      <vt:lpstr>動畫銜接圖一 操作角色行動時</vt:lpstr>
      <vt:lpstr>【法師職業】整體動作性格概述</vt:lpstr>
      <vt:lpstr>【1.待機】</vt:lpstr>
      <vt:lpstr>【2.路徑規劃】</vt:lpstr>
      <vt:lpstr>【3A.移動】</vt:lpstr>
      <vt:lpstr>【3B.走路 walk (非跑步)】</vt:lpstr>
      <vt:lpstr>【4A.吸收/互動I】</vt:lpstr>
      <vt:lpstr>【4B.吸收/發射II】用前一個動畫修改</vt:lpstr>
      <vt:lpstr>【4C.吸收/發射III】</vt:lpstr>
      <vt:lpstr>【5A.終結技I】</vt:lpstr>
      <vt:lpstr>【5B.終結技II】</vt:lpstr>
      <vt:lpstr>【6A/B.備戰(2個動畫)】複用戰士的</vt:lpstr>
      <vt:lpstr>【7A/B.支援(2個動畫)】複用戰士的</vt:lpstr>
      <vt:lpstr>【0.登場】</vt:lpstr>
      <vt:lpstr>【8A.奧義I】複用戰士的</vt:lpstr>
      <vt:lpstr>【8B.奧義II】複用戰士的</vt:lpstr>
      <vt:lpstr>【9A/B. 90度轉身】複用戰士的</vt:lpstr>
      <vt:lpstr>【9C.180度轉身】複用戰士的</vt:lpstr>
      <vt:lpstr>動畫銜接圖二 非操作角色時</vt:lpstr>
      <vt:lpstr>【10.跪姿】</vt:lpstr>
      <vt:lpstr>【11A/B.受擊(2個動畫)】複用戰士的</vt:lpstr>
      <vt:lpstr>【12A.死亡 面朝上倒】複用戰士的</vt:lpstr>
      <vt:lpstr>【12B.死亡 面朝下倒】用刺客的修改</vt:lpstr>
      <vt:lpstr>【12AA.死亡II-主角死亡】複用戰士的</vt:lpstr>
      <vt:lpstr>【13A/B.休閒待機】</vt:lpstr>
      <vt:lpstr>【14A.暈眩】複用戰士的</vt:lpstr>
      <vt:lpstr>【14B.解除暈眩】複用戰士的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RT主流程架構</dc:title>
  <dc:creator>T172073</dc:creator>
  <cp:lastModifiedBy>ju hui chou</cp:lastModifiedBy>
  <cp:revision>1317</cp:revision>
  <dcterms:created xsi:type="dcterms:W3CDTF">2022-05-21T14:24:12Z</dcterms:created>
  <dcterms:modified xsi:type="dcterms:W3CDTF">2025-05-29T15:55:09Z</dcterms:modified>
</cp:coreProperties>
</file>