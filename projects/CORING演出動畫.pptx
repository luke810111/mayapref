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306" r:id="rId3"/>
    <p:sldId id="307" r:id="rId4"/>
    <p:sldId id="327" r:id="rId5"/>
    <p:sldId id="328" r:id="rId6"/>
    <p:sldId id="329" r:id="rId7"/>
    <p:sldId id="330" r:id="rId8"/>
    <p:sldId id="331" r:id="rId9"/>
    <p:sldId id="332" r:id="rId10"/>
    <p:sldId id="334" r:id="rId11"/>
    <p:sldId id="333" r:id="rId12"/>
    <p:sldId id="335" r:id="rId13"/>
    <p:sldId id="336" r:id="rId14"/>
    <p:sldId id="337" r:id="rId15"/>
    <p:sldId id="338" r:id="rId16"/>
    <p:sldId id="339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FF"/>
    <a:srgbClr val="CCB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01" autoAdjust="0"/>
    <p:restoredTop sz="95878" autoAdjust="0"/>
  </p:normalViewPr>
  <p:slideViewPr>
    <p:cSldViewPr snapToGrid="0">
      <p:cViewPr varScale="1">
        <p:scale>
          <a:sx n="101" d="100"/>
          <a:sy n="101" d="100"/>
        </p:scale>
        <p:origin x="91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906655-758F-4D20-8B43-BF48990DC961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B40DEC-9CAF-4EE3-BB92-1C73C99289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0643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B40DEC-9CAF-4EE3-BB92-1C73C99289C6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35305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73D1E4-AE35-4592-9859-77D6C9FC4F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7BBD469-460B-4225-8387-B2BAF29FB9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EF6A4B-0605-4E6D-8EE1-03497E605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792C4-9F52-4A26-B036-7580CF1F8160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06C091-2212-4B44-859C-675676694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ADBC04B-AF75-41F9-B518-936E24B9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E36C-4158-4001-B0A9-AF2E8D5782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6350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41A852-A856-42FF-AF81-9D4F1EDC6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E59210-A4CF-429A-8693-3180E0E7A4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34AF53-B18E-4F03-8889-1ED003E61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792C4-9F52-4A26-B036-7580CF1F8160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01E453-98F6-4416-96B2-A136A9980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B139E7-DB40-4AE4-B67B-A8E006E8F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E36C-4158-4001-B0A9-AF2E8D5782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4726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EC1896-35F7-4F88-8509-4C8D926AD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9CA3A51-F62C-4357-8368-A034386BB3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69A8C6-A4D0-4DEF-8A23-DDC0FED94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792C4-9F52-4A26-B036-7580CF1F8160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1F3410-DDC5-4A07-9A5F-724DED95C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41CF84-B680-49DC-A005-C837C1CFB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E36C-4158-4001-B0A9-AF2E8D5782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6885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A9B2E9-2082-4225-BD1B-6B341C561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A15A51-5718-462D-956F-9862344FF2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CEA1D48-DB9A-4F46-A0E6-F7792FB3D1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B4B41C3-A4FF-40E1-BA44-9AC2D069A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792C4-9F52-4A26-B036-7580CF1F8160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46CDFBD-5106-4E8D-B8AC-4AFB3FEA5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FE59AD-709F-44F5-9F8A-F28ECC61D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E36C-4158-4001-B0A9-AF2E8D5782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295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4D684C-216E-4899-ACEC-F03876989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818E68F-F617-442E-89DD-A9BE0EE1DA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5FC4374-403E-4702-B062-4B7A44305C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62D2332-6E22-4C71-BE91-29DF9CE727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0CC1773-515E-413C-92E9-8B36768E11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CDE2D42-A3AB-4B3C-AF13-469BD3ED0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792C4-9F52-4A26-B036-7580CF1F8160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AE83BD1-FF91-44F7-A384-7B483CDDA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290ED68-07E4-49AE-95EF-434AF5A1C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E36C-4158-4001-B0A9-AF2E8D5782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8582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4E769A-10AC-4277-BD1F-E811C2AAD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8E8AC10-46F4-4CAA-9077-CF17A5871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792C4-9F52-4A26-B036-7580CF1F8160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D05E2E7-3ABF-4800-94C0-EE56629F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78690E4-B18E-4D71-85E9-06F4AB01B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E36C-4158-4001-B0A9-AF2E8D5782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2424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ABBE1B3-E1C2-427E-84D2-D3A32E8FB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792C4-9F52-4A26-B036-7580CF1F8160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10EFF1C-9258-4BFD-BF71-DFA46B4A7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BAAEF1D-E41D-41C2-ABDB-98EF81546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E36C-4158-4001-B0A9-AF2E8D5782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3747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7CB57F-2E61-445C-B0BA-889CE824C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D70370-1672-4E01-AD6D-62A4DF3824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8C44607-556C-4790-8273-90B81D0245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8AD30E2-C32E-4475-B702-2F0C8579F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792C4-9F52-4A26-B036-7580CF1F8160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98D5B38-4787-4E78-86BB-F249386DD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8527F0F-ABC6-4C87-89B0-F52FDE3EA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E36C-4158-4001-B0A9-AF2E8D5782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6535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5162C5-63BA-452E-8FD5-2AF2F774A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8525E7E-7AE8-4399-BCAB-3A78182F40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0399615-C67C-46CA-B40F-A1B3851C52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97AD000-F73F-41B0-BD0D-DFA09ACAB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792C4-9F52-4A26-B036-7580CF1F8160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65D6907-7044-4E40-81EF-8016BFA93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E63C647-E921-48B2-ABAA-BAA5148F2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E36C-4158-4001-B0A9-AF2E8D5782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9027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C135BA-FE27-4876-93A0-877F98C2B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393C790-4EBB-44DA-8C9E-41C925C26D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8A8357-23DD-40BB-81E1-AD5A9C5C6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792C4-9F52-4A26-B036-7580CF1F8160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7A2DBB-DCF8-40DD-8AE2-BFDD6E633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781DE9-050E-40E1-A81E-102FB89C3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E36C-4158-4001-B0A9-AF2E8D5782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2971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04AD81F-2E8D-4B7F-A928-A3DB78AA21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7DB94DE-50D6-4C03-9574-A4CBA8DC29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9AE60C6-2D76-479A-9201-C349CF1AE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792C4-9F52-4A26-B036-7580CF1F8160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27F416F-1DE8-4B89-9827-53A5F8650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3898F4-CFA4-4170-A8B7-1A740649A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E36C-4158-4001-B0A9-AF2E8D5782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8898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575BC56-9AA4-44E2-B653-A392F28BC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ED05DC8-3CAA-4DB8-8579-E931C857AF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BA3CA2-B817-4A52-8F08-A382AD1E8B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8792C4-9F52-4A26-B036-7580CF1F8160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DB7B75-C8A9-4C37-A524-47910A6D1E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BEE5F4A-4254-4555-9729-567EDAC946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5DE36C-4158-4001-B0A9-AF2E8D5782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80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9A55F0-3358-47D9-B5B0-81318AEF60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38531"/>
            <a:ext cx="9144000" cy="2387600"/>
          </a:xfrm>
        </p:spPr>
        <p:txBody>
          <a:bodyPr/>
          <a:lstStyle/>
          <a:p>
            <a:r>
              <a:rPr lang="en-US" altLang="zh-TW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CORING</a:t>
            </a:r>
            <a:br>
              <a:rPr lang="en-US" altLang="zh-TW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TW" altLang="en-US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角色演出動畫</a:t>
            </a:r>
            <a:endParaRPr lang="zh-CN" altLang="en-US" b="1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D60A39A8-91E3-4050-899E-1A06E4ADBA03}"/>
              </a:ext>
            </a:extLst>
          </p:cNvPr>
          <p:cNvSpPr txBox="1">
            <a:spLocks/>
          </p:cNvSpPr>
          <p:nvPr/>
        </p:nvSpPr>
        <p:spPr>
          <a:xfrm>
            <a:off x="838200" y="396704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73143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E9671E-0B69-47A7-92A4-7CCDB5ED5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855" y="346653"/>
            <a:ext cx="10515600" cy="410730"/>
          </a:xfrm>
        </p:spPr>
        <p:txBody>
          <a:bodyPr>
            <a:normAutofit fontScale="90000"/>
          </a:bodyPr>
          <a:lstStyle/>
          <a:p>
            <a:r>
              <a:rPr lang="zh-TW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演出動畫</a:t>
            </a:r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zh-CN" altLang="en-US" sz="1200" b="1" spc="3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7E4E6047-3C07-45E9-818D-06A72707BAA7}"/>
              </a:ext>
            </a:extLst>
          </p:cNvPr>
          <p:cNvSpPr txBox="1"/>
          <p:nvPr/>
        </p:nvSpPr>
        <p:spPr>
          <a:xfrm>
            <a:off x="394855" y="829541"/>
            <a:ext cx="11554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演出動畫是為了讓角色對話時的表現更自然，依照情境投放的簡單表演動畫，例如贊成、反對等。</a:t>
            </a:r>
            <a:endParaRPr lang="en-US" altLang="zh-TW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BEE6FA0E-73F2-C6D8-B303-88383CBC276C}"/>
              </a:ext>
            </a:extLst>
          </p:cNvPr>
          <p:cNvSpPr txBox="1">
            <a:spLocks/>
          </p:cNvSpPr>
          <p:nvPr/>
        </p:nvSpPr>
        <p:spPr>
          <a:xfrm>
            <a:off x="394855" y="1670628"/>
            <a:ext cx="10515600" cy="4107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涵蓋職業與分野</a:t>
            </a:r>
            <a:endParaRPr lang="zh-CN" altLang="en-US" sz="1200" b="1" spc="3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80">
            <a:extLst>
              <a:ext uri="{FF2B5EF4-FFF2-40B4-BE49-F238E27FC236}">
                <a16:creationId xmlns:a16="http://schemas.microsoft.com/office/drawing/2014/main" id="{0D5C9AA2-EEAD-D5A5-C77D-EB7A9D39D938}"/>
              </a:ext>
            </a:extLst>
          </p:cNvPr>
          <p:cNvSpPr txBox="1"/>
          <p:nvPr/>
        </p:nvSpPr>
        <p:spPr>
          <a:xfrm>
            <a:off x="394855" y="2153516"/>
            <a:ext cx="11554490" cy="1000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希望涵蓋「所有職業」，</a:t>
            </a:r>
            <a:r>
              <a:rPr lang="zh-TW" altLang="en-US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以「男女性別」來做分野</a:t>
            </a:r>
            <a:endParaRPr lang="en-US" altLang="zh-TW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TW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TW" altLang="en-US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男性共用一組動畫、女性共用一組動畫。</a:t>
            </a:r>
            <a:r>
              <a:rPr lang="zh-TW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為了實現共用，如果動畫不符合該職業，要在演出動畫開始前依照職業先把武器插在地上。</a:t>
            </a:r>
            <a:endParaRPr lang="en-US" altLang="zh-TW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338077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E9671E-0B69-47A7-92A4-7CCDB5ED5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855" y="346653"/>
            <a:ext cx="10515600" cy="410730"/>
          </a:xfrm>
        </p:spPr>
        <p:txBody>
          <a:bodyPr>
            <a:normAutofit fontScale="90000"/>
          </a:bodyPr>
          <a:lstStyle/>
          <a:p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【0.</a:t>
            </a:r>
            <a:r>
              <a:rPr lang="zh-TW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休閒狀態</a:t>
            </a:r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zh-CN" altLang="en-US" sz="1200" b="1" spc="3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7E4E6047-3C07-45E9-818D-06A72707BAA7}"/>
              </a:ext>
            </a:extLst>
          </p:cNvPr>
          <p:cNvSpPr txBox="1"/>
          <p:nvPr/>
        </p:nvSpPr>
        <p:spPr>
          <a:xfrm>
            <a:off x="394855" y="782746"/>
            <a:ext cx="11225645" cy="1800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使用時機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「演出開始前，讓角色的手能空出來」</a:t>
            </a:r>
            <a:endParaRPr lang="en-US" altLang="zh-TW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為了讓單手持握與雙手持握的武器能套用一致的動畫，播放演出動畫前，將武器置於地上</a:t>
            </a:r>
            <a:r>
              <a:rPr lang="zh-TW" altLang="en-US" sz="1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，讓角色的站姿雷同，方便之後的演出動畫兼用   </a:t>
            </a:r>
            <a:r>
              <a:rPr lang="en-US" altLang="zh-TW" sz="1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TW" altLang="en-US" sz="1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男女則可不同</a:t>
            </a:r>
            <a:r>
              <a:rPr lang="en-US" altLang="zh-TW" sz="1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TW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動作連貫性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從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待機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開始，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【0.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休閒狀態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後接上各種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演出動畫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，之後再接回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待機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spcAft>
                <a:spcPts val="600"/>
              </a:spcAft>
            </a:pP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分三個部分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:【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武器插地、維持循環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不摸武器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、拔起武器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TW" altLang="en-US" sz="16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武器插地</a:t>
            </a:r>
            <a:r>
              <a:rPr lang="en-US" altLang="zh-TW" sz="16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沿用使用休閒動畫的前段微調；拔起武器</a:t>
            </a:r>
            <a:r>
              <a:rPr lang="en-US" altLang="zh-TW" sz="16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沿用使用休閒動畫的末段微調</a:t>
            </a:r>
            <a:endParaRPr lang="en-US" altLang="zh-TW" sz="1600" b="1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673FCB2-0FB8-AA72-BB98-083AB89EC9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8825" y="2774584"/>
            <a:ext cx="7899716" cy="3879638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B1E17A32-8AB7-9E46-6338-98CFBC054C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9980" y="2608603"/>
            <a:ext cx="1197689" cy="173665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43649833-7F39-913B-A53F-ED56B6D7C1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8325" y="2608602"/>
            <a:ext cx="1106414" cy="1736650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A5E162B4-039A-D6B1-ECB1-50577041BF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16630" y="2608602"/>
            <a:ext cx="1293090" cy="1736650"/>
          </a:xfrm>
          <a:prstGeom prst="rect">
            <a:avLst/>
          </a:prstGeom>
        </p:spPr>
      </p:pic>
      <p:sp>
        <p:nvSpPr>
          <p:cNvPr id="12" name="文本框 80">
            <a:extLst>
              <a:ext uri="{FF2B5EF4-FFF2-40B4-BE49-F238E27FC236}">
                <a16:creationId xmlns:a16="http://schemas.microsoft.com/office/drawing/2014/main" id="{C2F1749D-5884-071C-B09B-5A6977591458}"/>
              </a:ext>
            </a:extLst>
          </p:cNvPr>
          <p:cNvSpPr txBox="1"/>
          <p:nvPr/>
        </p:nvSpPr>
        <p:spPr>
          <a:xfrm>
            <a:off x="3395230" y="6241548"/>
            <a:ext cx="11196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6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戰士</a:t>
            </a:r>
            <a:endParaRPr lang="en-US" altLang="zh-TW" sz="1600" b="1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80">
            <a:extLst>
              <a:ext uri="{FF2B5EF4-FFF2-40B4-BE49-F238E27FC236}">
                <a16:creationId xmlns:a16="http://schemas.microsoft.com/office/drawing/2014/main" id="{C25240C5-3B1B-202A-1F0C-0E772EC8484B}"/>
              </a:ext>
            </a:extLst>
          </p:cNvPr>
          <p:cNvSpPr txBox="1"/>
          <p:nvPr/>
        </p:nvSpPr>
        <p:spPr>
          <a:xfrm>
            <a:off x="5690755" y="6241548"/>
            <a:ext cx="11196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法師</a:t>
            </a:r>
            <a:endParaRPr lang="en-US" altLang="zh-TW" sz="16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80">
            <a:extLst>
              <a:ext uri="{FF2B5EF4-FFF2-40B4-BE49-F238E27FC236}">
                <a16:creationId xmlns:a16="http://schemas.microsoft.com/office/drawing/2014/main" id="{858A2EAC-FCBA-F4F1-25E4-04D758914924}"/>
              </a:ext>
            </a:extLst>
          </p:cNvPr>
          <p:cNvSpPr txBox="1"/>
          <p:nvPr/>
        </p:nvSpPr>
        <p:spPr>
          <a:xfrm>
            <a:off x="8166403" y="6241548"/>
            <a:ext cx="11196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刺客</a:t>
            </a:r>
            <a:endParaRPr lang="en-US" altLang="zh-TW" sz="1600" b="1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68977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90034-D547-5443-7D4E-8CC604B95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998296-3D2A-A688-483F-CD80BEA17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855" y="346653"/>
            <a:ext cx="10515600" cy="410730"/>
          </a:xfrm>
        </p:spPr>
        <p:txBody>
          <a:bodyPr>
            <a:normAutofit fontScale="90000"/>
          </a:bodyPr>
          <a:lstStyle/>
          <a:p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【1.</a:t>
            </a:r>
            <a:r>
              <a:rPr lang="zh-TW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點頭贊成</a:t>
            </a:r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zh-CN" altLang="en-US" sz="1200" b="1" spc="3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C588EB27-13EA-6FB7-90A0-45AF0B51BDB7}"/>
              </a:ext>
            </a:extLst>
          </p:cNvPr>
          <p:cNvSpPr txBox="1"/>
          <p:nvPr/>
        </p:nvSpPr>
        <p:spPr>
          <a:xfrm>
            <a:off x="394855" y="837063"/>
            <a:ext cx="1155449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使用時機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「角色同意對方所說的話時」</a:t>
            </a:r>
            <a:endParaRPr lang="en-US" altLang="zh-TW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考慮到俯瞰視角，動作演出需要大一些，可以點個兩下</a:t>
            </a:r>
            <a:endParaRPr lang="en-US" altLang="zh-TW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動作連貫性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從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休閒狀態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開始，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【1.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點頭贊成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後再接回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休閒狀態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en-US" altLang="zh-TW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528CBA9-0AF1-0123-7C61-F6E8A449F2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7365" y="371048"/>
            <a:ext cx="3010320" cy="6115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345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FA8B2-35C2-78A3-6375-D495348EA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43041B-BD4E-CC9A-3255-0895D8B60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855" y="346653"/>
            <a:ext cx="10515600" cy="410730"/>
          </a:xfrm>
        </p:spPr>
        <p:txBody>
          <a:bodyPr>
            <a:normAutofit fontScale="90000"/>
          </a:bodyPr>
          <a:lstStyle/>
          <a:p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【2.</a:t>
            </a:r>
            <a:r>
              <a:rPr lang="zh-TW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搖頭否定</a:t>
            </a:r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zh-CN" altLang="en-US" sz="1200" b="1" spc="3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F70302A9-8C81-EA24-3C8C-79655CB68C27}"/>
              </a:ext>
            </a:extLst>
          </p:cNvPr>
          <p:cNvSpPr txBox="1"/>
          <p:nvPr/>
        </p:nvSpPr>
        <p:spPr>
          <a:xfrm>
            <a:off x="394855" y="837063"/>
            <a:ext cx="1155449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使用時機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「角色不同意對方所說的話時」</a:t>
            </a:r>
            <a:endParaRPr lang="en-US" altLang="zh-TW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考慮到俯瞰視角，動作演出需要大一些，大力搖頭</a:t>
            </a:r>
            <a:endParaRPr lang="en-US" altLang="zh-TW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動作連貫性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從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休閒狀態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開始，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【2.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搖頭否定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後再接回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休閒狀態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en-US" altLang="zh-TW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F6C2E14-695B-511B-6D06-244A227F1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741" y="528812"/>
            <a:ext cx="2810267" cy="5982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9228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F7623-9FB4-A492-C746-4ABE4B9C6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B006AA-4FEA-C485-BA25-A3DCDDEA9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855" y="346653"/>
            <a:ext cx="10515600" cy="410730"/>
          </a:xfrm>
        </p:spPr>
        <p:txBody>
          <a:bodyPr>
            <a:normAutofit fontScale="90000"/>
          </a:bodyPr>
          <a:lstStyle/>
          <a:p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【3.</a:t>
            </a:r>
            <a:r>
              <a:rPr lang="zh-TW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托腮思索</a:t>
            </a:r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zh-CN" altLang="en-US" sz="1200" b="1" spc="3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19E18578-E1A0-1B75-4FC6-4B015A44C07F}"/>
              </a:ext>
            </a:extLst>
          </p:cNvPr>
          <p:cNvSpPr txBox="1"/>
          <p:nvPr/>
        </p:nvSpPr>
        <p:spPr>
          <a:xfrm>
            <a:off x="394855" y="837063"/>
            <a:ext cx="11554490" cy="1308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使用時機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「當角色思考時」</a:t>
            </a:r>
            <a:endParaRPr lang="en-US" altLang="zh-TW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考慮到俯瞰視角，動作演出需要大一些，評估時長需要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&gt;2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秒</a:t>
            </a:r>
            <a:endParaRPr lang="en-US" altLang="zh-TW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動作連貫性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從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休閒狀態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開始，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【3.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托腮思索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後再接回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休閒狀態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spcAft>
                <a:spcPts val="600"/>
              </a:spcAft>
            </a:pP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思索後也可能接上點頭或搖頭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TW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4EC7497-246A-CD30-3AC1-AD2689B9CA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0246" y="166232"/>
            <a:ext cx="2915057" cy="6525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4982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3F120-70E7-E16C-F2A9-A2188609D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99C526-C7C1-3F0E-F034-99A435DC1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855" y="346653"/>
            <a:ext cx="10515600" cy="410730"/>
          </a:xfrm>
        </p:spPr>
        <p:txBody>
          <a:bodyPr>
            <a:normAutofit fontScale="90000"/>
          </a:bodyPr>
          <a:lstStyle/>
          <a:p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【4.</a:t>
            </a:r>
            <a:r>
              <a:rPr lang="zh-TW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提議</a:t>
            </a:r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zh-CN" altLang="en-US" sz="1200" b="1" spc="3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1F4A80AE-2AAC-940A-597B-88C1B2DE4802}"/>
              </a:ext>
            </a:extLst>
          </p:cNvPr>
          <p:cNvSpPr txBox="1"/>
          <p:nvPr/>
        </p:nvSpPr>
        <p:spPr>
          <a:xfrm>
            <a:off x="394855" y="837063"/>
            <a:ext cx="1155449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使用時機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「當角色提出一個方案或是想法時」</a:t>
            </a:r>
            <a:endParaRPr lang="en-US" altLang="zh-TW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考慮到俯瞰視角，動作演出需要大一些</a:t>
            </a:r>
            <a:endParaRPr lang="en-US" altLang="zh-TW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動作連貫性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從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休閒狀態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開始，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【4.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提議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後再接回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休閒狀態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B8EDDC4-644B-72AD-A431-0657BB5E3A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1956" y="418680"/>
            <a:ext cx="3038899" cy="6020640"/>
          </a:xfrm>
          <a:prstGeom prst="rect">
            <a:avLst/>
          </a:prstGeom>
        </p:spPr>
      </p:pic>
      <p:sp>
        <p:nvSpPr>
          <p:cNvPr id="4" name="文本框 80">
            <a:extLst>
              <a:ext uri="{FF2B5EF4-FFF2-40B4-BE49-F238E27FC236}">
                <a16:creationId xmlns:a16="http://schemas.microsoft.com/office/drawing/2014/main" id="{26667626-75AC-5CEB-5880-3A291B8841DE}"/>
              </a:ext>
            </a:extLst>
          </p:cNvPr>
          <p:cNvSpPr txBox="1"/>
          <p:nvPr/>
        </p:nvSpPr>
        <p:spPr>
          <a:xfrm>
            <a:off x="7356985" y="3622803"/>
            <a:ext cx="14244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掌心向上</a:t>
            </a:r>
            <a:endParaRPr lang="en-US" altLang="zh-TW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522897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74F74-55CB-BA5C-C06A-5E225AAE6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86F02A-0799-BF2E-39E6-22CB4BA5F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855" y="346653"/>
            <a:ext cx="10515600" cy="410730"/>
          </a:xfrm>
        </p:spPr>
        <p:txBody>
          <a:bodyPr>
            <a:normAutofit fontScale="90000"/>
          </a:bodyPr>
          <a:lstStyle/>
          <a:p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【5.</a:t>
            </a:r>
            <a:r>
              <a:rPr lang="zh-TW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激動揮手</a:t>
            </a:r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zh-CN" altLang="en-US" sz="1200" b="1" spc="3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52BCBAC8-44B2-1BEE-292E-647A68969C03}"/>
              </a:ext>
            </a:extLst>
          </p:cNvPr>
          <p:cNvSpPr txBox="1"/>
          <p:nvPr/>
        </p:nvSpPr>
        <p:spPr>
          <a:xfrm>
            <a:off x="394855" y="837063"/>
            <a:ext cx="11554490" cy="1308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使用時機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「當角色激烈地提出想法 或表達反對時」</a:t>
            </a:r>
            <a:endParaRPr lang="en-US" altLang="zh-TW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考慮到俯瞰視角，動作演出需要大一些</a:t>
            </a:r>
            <a:endParaRPr lang="en-US" altLang="zh-TW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動作連貫性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從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休閒狀態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思索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開始，</a:t>
            </a:r>
            <a:endParaRPr lang="en-US" altLang="zh-TW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【5.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激動揮手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後再接回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休閒狀態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5C3DC56-46AE-796D-D6FD-C53D564DE1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0385" y="541544"/>
            <a:ext cx="4720070" cy="5969803"/>
          </a:xfrm>
          <a:prstGeom prst="rect">
            <a:avLst/>
          </a:prstGeom>
        </p:spPr>
      </p:pic>
      <p:sp>
        <p:nvSpPr>
          <p:cNvPr id="7" name="文本框 80">
            <a:extLst>
              <a:ext uri="{FF2B5EF4-FFF2-40B4-BE49-F238E27FC236}">
                <a16:creationId xmlns:a16="http://schemas.microsoft.com/office/drawing/2014/main" id="{7A9515F5-E24B-766B-F531-64F20FBF677C}"/>
              </a:ext>
            </a:extLst>
          </p:cNvPr>
          <p:cNvSpPr txBox="1"/>
          <p:nvPr/>
        </p:nvSpPr>
        <p:spPr>
          <a:xfrm>
            <a:off x="7376035" y="1563073"/>
            <a:ext cx="1424420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掌心向下</a:t>
            </a:r>
            <a:endParaRPr lang="en-US" altLang="zh-TW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用力揮手</a:t>
            </a:r>
            <a:endParaRPr lang="en-US" altLang="zh-TW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441179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655CA-95C3-89A7-023A-4C3D86DE0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8536BF-F34A-B9FD-0856-BC831C20D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855" y="346653"/>
            <a:ext cx="10515600" cy="410730"/>
          </a:xfrm>
        </p:spPr>
        <p:txBody>
          <a:bodyPr>
            <a:normAutofit fontScale="90000"/>
          </a:bodyPr>
          <a:lstStyle/>
          <a:p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【6.</a:t>
            </a:r>
            <a:r>
              <a:rPr lang="zh-TW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聳肩</a:t>
            </a:r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zh-CN" altLang="en-US" sz="1200" b="1" spc="3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5A9553D3-CC79-A961-B5F4-CA551430FB8E}"/>
              </a:ext>
            </a:extLst>
          </p:cNvPr>
          <p:cNvSpPr txBox="1"/>
          <p:nvPr/>
        </p:nvSpPr>
        <p:spPr>
          <a:xfrm>
            <a:off x="394855" y="837063"/>
            <a:ext cx="1155449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使用時機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「當角色沒意見 或表示不知道時」</a:t>
            </a:r>
            <a:endParaRPr lang="en-US" altLang="zh-TW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考慮到俯瞰視角，動作演出需要大一些</a:t>
            </a:r>
            <a:endParaRPr lang="en-US" altLang="zh-TW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動作連貫性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從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休閒狀態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開始，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【6.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聳肩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後再接回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休閒狀態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F263587-8E2E-8D01-DF35-170A442474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2065" y="666398"/>
            <a:ext cx="3986465" cy="5553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6356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15EA9-92C6-2676-C8AF-58416F5A4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AF2A70-FB03-BEFE-8E1D-D7F0A23E3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855" y="346653"/>
            <a:ext cx="10515600" cy="410730"/>
          </a:xfrm>
        </p:spPr>
        <p:txBody>
          <a:bodyPr>
            <a:normAutofit fontScale="90000"/>
          </a:bodyPr>
          <a:lstStyle/>
          <a:p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【7.</a:t>
            </a:r>
            <a:r>
              <a:rPr lang="zh-TW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獻上</a:t>
            </a:r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zh-CN" altLang="en-US" sz="1200" b="1" spc="3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F28D7545-3766-0448-CB67-22CB28452065}"/>
              </a:ext>
            </a:extLst>
          </p:cNvPr>
          <p:cNvSpPr txBox="1"/>
          <p:nvPr/>
        </p:nvSpPr>
        <p:spPr>
          <a:xfrm>
            <a:off x="394855" y="837063"/>
            <a:ext cx="1155449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使用時機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「當角色給予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交付珍貴的物件時」</a:t>
            </a:r>
            <a:endParaRPr lang="en-US" altLang="zh-TW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考慮到俯瞰視角，動作演出需要大一些</a:t>
            </a:r>
            <a:endParaRPr lang="en-US" altLang="zh-TW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動作連貫性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從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休閒狀態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開始，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【7.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獻上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後再接回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休閒狀態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0F4F505-F2A1-5872-4107-E39AEE785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5924" y="419648"/>
            <a:ext cx="2813576" cy="6091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2522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9C54C-2F57-C155-4692-CF6117624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E0134B-EA1B-FE7A-F8B5-EBC4DAD3D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855" y="346653"/>
            <a:ext cx="10515600" cy="410730"/>
          </a:xfrm>
        </p:spPr>
        <p:txBody>
          <a:bodyPr>
            <a:normAutofit fontScale="90000"/>
          </a:bodyPr>
          <a:lstStyle/>
          <a:p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【8.</a:t>
            </a:r>
            <a:r>
              <a:rPr lang="zh-TW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掙扎</a:t>
            </a:r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TW" altLang="en-US" sz="2800" b="1" spc="3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注意到戰士的正面倒地死好像有缺，要麻煩進行確認</a:t>
            </a:r>
            <a:r>
              <a:rPr lang="en-US" altLang="zh-TW" sz="2800" b="1" spc="3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~</a:t>
            </a:r>
            <a:endParaRPr lang="zh-CN" altLang="en-US" sz="1200" b="1" spc="3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F1C9DDDE-D5A0-5940-2917-ABF8135DDAB3}"/>
              </a:ext>
            </a:extLst>
          </p:cNvPr>
          <p:cNvSpPr txBox="1"/>
          <p:nvPr/>
        </p:nvSpPr>
        <p:spPr>
          <a:xfrm>
            <a:off x="394855" y="837063"/>
            <a:ext cx="1155449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使用時機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「當角色沒血量了，卻還想要說出遺言時」</a:t>
            </a:r>
            <a:endParaRPr lang="en-US" altLang="zh-TW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考慮到俯瞰視角，動作演出需要大一些</a:t>
            </a:r>
            <a:endParaRPr lang="en-US" altLang="zh-TW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動作連貫性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從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死亡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背面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)】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開始，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【8.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掙扎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後再接回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死亡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背面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)】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2F52BF7-502B-FFC7-F263-E308DB59FE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9370" y="2190493"/>
            <a:ext cx="5087060" cy="3677163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4F180CA6-0238-02D4-C413-B7F6D3E97F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5070" y="2884472"/>
            <a:ext cx="2619730" cy="2289203"/>
          </a:xfrm>
          <a:prstGeom prst="rect">
            <a:avLst/>
          </a:prstGeom>
        </p:spPr>
      </p:pic>
      <p:sp>
        <p:nvSpPr>
          <p:cNvPr id="8" name="箭號: 向右 7">
            <a:extLst>
              <a:ext uri="{FF2B5EF4-FFF2-40B4-BE49-F238E27FC236}">
                <a16:creationId xmlns:a16="http://schemas.microsoft.com/office/drawing/2014/main" id="{589BA472-E107-6C4C-EC24-954E728E3757}"/>
              </a:ext>
            </a:extLst>
          </p:cNvPr>
          <p:cNvSpPr/>
          <p:nvPr/>
        </p:nvSpPr>
        <p:spPr>
          <a:xfrm>
            <a:off x="4400549" y="3495675"/>
            <a:ext cx="828675" cy="3524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箭號: 向右 9">
            <a:extLst>
              <a:ext uri="{FF2B5EF4-FFF2-40B4-BE49-F238E27FC236}">
                <a16:creationId xmlns:a16="http://schemas.microsoft.com/office/drawing/2014/main" id="{639651B6-67BA-7FB8-F4FE-25950AF16D7C}"/>
              </a:ext>
            </a:extLst>
          </p:cNvPr>
          <p:cNvSpPr/>
          <p:nvPr/>
        </p:nvSpPr>
        <p:spPr>
          <a:xfrm rot="10800000">
            <a:off x="4304944" y="3852860"/>
            <a:ext cx="828675" cy="3524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601376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8C02E-72B1-0D86-6611-BCCDD98D7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6E1CF6-18B9-50A1-C8DB-A2E797CCD7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38531"/>
            <a:ext cx="9144000" cy="2387600"/>
          </a:xfrm>
        </p:spPr>
        <p:txBody>
          <a:bodyPr/>
          <a:lstStyle/>
          <a:p>
            <a:r>
              <a:rPr lang="en-US" altLang="zh-TW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CORING</a:t>
            </a:r>
            <a:br>
              <a:rPr lang="en-US" altLang="zh-TW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TW" altLang="en-US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場景物件演出動畫</a:t>
            </a:r>
            <a:endParaRPr lang="zh-CN" altLang="en-US" b="1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003762E5-5F6B-26FB-1F54-63BA279310E6}"/>
              </a:ext>
            </a:extLst>
          </p:cNvPr>
          <p:cNvSpPr txBox="1">
            <a:spLocks/>
          </p:cNvSpPr>
          <p:nvPr/>
        </p:nvSpPr>
        <p:spPr>
          <a:xfrm>
            <a:off x="838200" y="396704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919278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700CF-5097-8821-B65E-35E446318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C79F28-2A6F-FF25-DE25-739FE92EF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855" y="346653"/>
            <a:ext cx="10515600" cy="410730"/>
          </a:xfrm>
        </p:spPr>
        <p:txBody>
          <a:bodyPr>
            <a:normAutofit fontScale="90000"/>
          </a:bodyPr>
          <a:lstStyle/>
          <a:p>
            <a:r>
              <a:rPr lang="zh-TW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瞳之國的門 結構說明</a:t>
            </a:r>
            <a:endParaRPr lang="zh-CN" altLang="en-US" sz="1200" b="1" spc="3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0C217091-6EC9-EECF-EFC1-940D854DCA6F}"/>
              </a:ext>
            </a:extLst>
          </p:cNvPr>
          <p:cNvSpPr txBox="1"/>
          <p:nvPr/>
        </p:nvSpPr>
        <p:spPr>
          <a:xfrm>
            <a:off x="394855" y="837063"/>
            <a:ext cx="115544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十字形切割，將鐵門片分成了八塊，中心還有一個球形的眼珠結構，門片總共有九個結構。</a:t>
            </a:r>
            <a:br>
              <a:rPr lang="en-US" altLang="zh-TW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TW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開門或關門前，眼珠旁的結構會先動。</a:t>
            </a:r>
            <a:endParaRPr lang="en-US" altLang="zh-TW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5553BA8-F0B7-0FD7-4AD0-947C5D1876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0670" y="2227479"/>
            <a:ext cx="4152900" cy="3893344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BBC08F48-54CB-27EE-6B4E-65967633B2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8652" y="2148898"/>
            <a:ext cx="3847634" cy="3971925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34B4195B-B5CE-BBD5-AC23-431DCD39B9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791" y="2025073"/>
            <a:ext cx="2327138" cy="4391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6163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7AE70-F524-1E42-B219-1374F7374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F50502-55DF-086C-4273-65D61C0F3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855" y="346653"/>
            <a:ext cx="10515600" cy="410730"/>
          </a:xfrm>
        </p:spPr>
        <p:txBody>
          <a:bodyPr>
            <a:normAutofit fontScale="90000"/>
          </a:bodyPr>
          <a:lstStyle/>
          <a:p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【1. </a:t>
            </a:r>
            <a:r>
              <a:rPr lang="zh-TW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開</a:t>
            </a:r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TW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關門</a:t>
            </a:r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1】</a:t>
            </a:r>
            <a:endParaRPr lang="zh-CN" altLang="en-US" sz="1200" b="1" spc="3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75863067-3837-28B3-4E6B-79C9B4848AB9}"/>
              </a:ext>
            </a:extLst>
          </p:cNvPr>
          <p:cNvSpPr txBox="1"/>
          <p:nvPr/>
        </p:nvSpPr>
        <p:spPr>
          <a:xfrm>
            <a:off x="394855" y="837063"/>
            <a:ext cx="1155449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使用時機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「瞳之國的門 打開或關閉時」</a:t>
            </a:r>
            <a:endParaRPr lang="en-US" altLang="zh-TW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眼珠旁的結構先水平轉動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180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度、再垂直轉動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180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度，之後門左右打開，</a:t>
            </a:r>
            <a:endParaRPr lang="en-US" altLang="zh-TW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打開時希望門片不穿幫，可能需要縮放門片。</a:t>
            </a:r>
            <a:endParaRPr lang="en-US" altLang="zh-TW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zh-TW" altLang="en-US" sz="16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希望能有反向播放的「關門動畫」</a:t>
            </a:r>
            <a:endParaRPr lang="en-US" altLang="zh-TW" sz="1600" b="1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endParaRPr lang="en-US" altLang="zh-TW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F7016D7D-8AEC-DD52-84A6-C64D02B90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269" y="2209800"/>
            <a:ext cx="10709718" cy="2281561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A9AD1783-8C5D-865A-A3F8-A264143691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251267" y="4576439"/>
            <a:ext cx="10709718" cy="2281561"/>
          </a:xfrm>
          <a:prstGeom prst="rect">
            <a:avLst/>
          </a:prstGeom>
        </p:spPr>
      </p:pic>
      <p:sp>
        <p:nvSpPr>
          <p:cNvPr id="10" name="文本框 80">
            <a:extLst>
              <a:ext uri="{FF2B5EF4-FFF2-40B4-BE49-F238E27FC236}">
                <a16:creationId xmlns:a16="http://schemas.microsoft.com/office/drawing/2014/main" id="{09286378-2D11-BC35-91F8-690935DD0459}"/>
              </a:ext>
            </a:extLst>
          </p:cNvPr>
          <p:cNvSpPr txBox="1"/>
          <p:nvPr/>
        </p:nvSpPr>
        <p:spPr>
          <a:xfrm>
            <a:off x="671080" y="3330159"/>
            <a:ext cx="8243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開門</a:t>
            </a:r>
            <a:endParaRPr lang="en-US" altLang="zh-TW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80">
            <a:extLst>
              <a:ext uri="{FF2B5EF4-FFF2-40B4-BE49-F238E27FC236}">
                <a16:creationId xmlns:a16="http://schemas.microsoft.com/office/drawing/2014/main" id="{4DDDCB7C-9E3F-7180-190A-D69D98714E94}"/>
              </a:ext>
            </a:extLst>
          </p:cNvPr>
          <p:cNvSpPr txBox="1"/>
          <p:nvPr/>
        </p:nvSpPr>
        <p:spPr>
          <a:xfrm>
            <a:off x="671080" y="5682383"/>
            <a:ext cx="8243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關門</a:t>
            </a:r>
            <a:endParaRPr lang="en-US" altLang="zh-TW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02861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6009C-31F7-C0FE-DF33-3C0807153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FD3C98-50A0-91EB-4467-45F64930E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855" y="346653"/>
            <a:ext cx="10515600" cy="410730"/>
          </a:xfrm>
        </p:spPr>
        <p:txBody>
          <a:bodyPr>
            <a:normAutofit fontScale="90000"/>
          </a:bodyPr>
          <a:lstStyle/>
          <a:p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【2. </a:t>
            </a:r>
            <a:r>
              <a:rPr lang="zh-TW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開</a:t>
            </a:r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TW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關門</a:t>
            </a:r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2】</a:t>
            </a:r>
            <a:endParaRPr lang="zh-CN" altLang="en-US" sz="1200" b="1" spc="3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AEEFA4C2-6F9E-0FCC-D6BF-26F56FE1EFF7}"/>
              </a:ext>
            </a:extLst>
          </p:cNvPr>
          <p:cNvSpPr txBox="1"/>
          <p:nvPr/>
        </p:nvSpPr>
        <p:spPr>
          <a:xfrm>
            <a:off x="394855" y="837063"/>
            <a:ext cx="1155449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使用時機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「瞳之國的門 打開或關閉時」</a:t>
            </a:r>
            <a:endParaRPr lang="en-US" altLang="zh-TW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TW" sz="16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TW" altLang="en-US" sz="16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與開門一順序相反</a:t>
            </a:r>
            <a:r>
              <a:rPr lang="en-US" altLang="zh-TW" sz="16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~)</a:t>
            </a:r>
            <a:r>
              <a:rPr lang="zh-TW" altLang="en-US" sz="16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眼珠旁的結構先垂直轉動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180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度、再水平轉動</a:t>
            </a:r>
            <a:r>
              <a:rPr lang="en-US" altLang="zh-TW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180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度，之後門</a:t>
            </a:r>
            <a:r>
              <a:rPr lang="zh-TW" altLang="en-US" sz="16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上下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打開，</a:t>
            </a:r>
            <a:endParaRPr lang="en-US" altLang="zh-TW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打開時希望門片不穿幫，可能需要縮放門片。</a:t>
            </a:r>
            <a:endParaRPr lang="en-US" altLang="zh-TW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zh-TW" altLang="en-US" sz="16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希望能有反向播放的「關門動畫」</a:t>
            </a:r>
            <a:endParaRPr lang="en-US" altLang="zh-TW" sz="1600" b="1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endParaRPr lang="en-US" altLang="zh-TW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80">
            <a:extLst>
              <a:ext uri="{FF2B5EF4-FFF2-40B4-BE49-F238E27FC236}">
                <a16:creationId xmlns:a16="http://schemas.microsoft.com/office/drawing/2014/main" id="{23629E8E-5605-9B8D-C0E6-F9B3268A67F8}"/>
              </a:ext>
            </a:extLst>
          </p:cNvPr>
          <p:cNvSpPr txBox="1"/>
          <p:nvPr/>
        </p:nvSpPr>
        <p:spPr>
          <a:xfrm>
            <a:off x="671080" y="3330159"/>
            <a:ext cx="8243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開門</a:t>
            </a:r>
            <a:endParaRPr lang="en-US" altLang="zh-TW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80">
            <a:extLst>
              <a:ext uri="{FF2B5EF4-FFF2-40B4-BE49-F238E27FC236}">
                <a16:creationId xmlns:a16="http://schemas.microsoft.com/office/drawing/2014/main" id="{7D7B3257-2266-1FE6-863C-D46ADA60A6CB}"/>
              </a:ext>
            </a:extLst>
          </p:cNvPr>
          <p:cNvSpPr txBox="1"/>
          <p:nvPr/>
        </p:nvSpPr>
        <p:spPr>
          <a:xfrm>
            <a:off x="671080" y="5682383"/>
            <a:ext cx="8243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關門</a:t>
            </a:r>
            <a:endParaRPr lang="en-US" altLang="zh-TW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EE610032-80CE-53AB-0804-D856AD132D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4788" y="2196152"/>
            <a:ext cx="10654557" cy="2355571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E17383DB-CC78-B0F0-1E29-838F8CC8BB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294787" y="4476022"/>
            <a:ext cx="10654556" cy="2355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378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7EDAB-41B0-865D-5CF6-C52C57F94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3EA7E3-BC19-2906-3A96-DD96181DD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855" y="346653"/>
            <a:ext cx="10515600" cy="410730"/>
          </a:xfrm>
        </p:spPr>
        <p:txBody>
          <a:bodyPr>
            <a:normAutofit fontScale="90000"/>
          </a:bodyPr>
          <a:lstStyle/>
          <a:p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【3. </a:t>
            </a:r>
            <a:r>
              <a:rPr lang="zh-TW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開</a:t>
            </a:r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TW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關門</a:t>
            </a:r>
            <a:r>
              <a:rPr lang="en-US" altLang="zh-TW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3】</a:t>
            </a:r>
            <a:endParaRPr lang="zh-CN" altLang="en-US" sz="1200" b="1" spc="3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4FC6C440-6667-175A-15A3-78C12359584B}"/>
              </a:ext>
            </a:extLst>
          </p:cNvPr>
          <p:cNvSpPr txBox="1"/>
          <p:nvPr/>
        </p:nvSpPr>
        <p:spPr>
          <a:xfrm>
            <a:off x="394855" y="837063"/>
            <a:ext cx="11554490" cy="1308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使用時機</a:t>
            </a: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「瞳之國的門 打開或關閉時」</a:t>
            </a:r>
            <a:endParaRPr lang="en-US" altLang="zh-TW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眼珠周圍的結構先上下眨一次、接著再快速眨兩下，之後門上下打開。</a:t>
            </a:r>
            <a:endParaRPr lang="en-US" altLang="zh-TW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zh-TW" altLang="en-US" sz="16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希望能有反向播放的「關門動畫」</a:t>
            </a:r>
            <a:endParaRPr lang="en-US" altLang="zh-TW" sz="1600" b="1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endParaRPr lang="en-US" altLang="zh-TW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80">
            <a:extLst>
              <a:ext uri="{FF2B5EF4-FFF2-40B4-BE49-F238E27FC236}">
                <a16:creationId xmlns:a16="http://schemas.microsoft.com/office/drawing/2014/main" id="{87723A10-0EFF-7D4E-2997-04FB36C74EA9}"/>
              </a:ext>
            </a:extLst>
          </p:cNvPr>
          <p:cNvSpPr txBox="1"/>
          <p:nvPr/>
        </p:nvSpPr>
        <p:spPr>
          <a:xfrm>
            <a:off x="861580" y="3429000"/>
            <a:ext cx="8243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開門</a:t>
            </a:r>
            <a:endParaRPr lang="en-US" altLang="zh-TW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80">
            <a:extLst>
              <a:ext uri="{FF2B5EF4-FFF2-40B4-BE49-F238E27FC236}">
                <a16:creationId xmlns:a16="http://schemas.microsoft.com/office/drawing/2014/main" id="{2D661835-1A60-17C0-6D17-AB8FBB98F9B3}"/>
              </a:ext>
            </a:extLst>
          </p:cNvPr>
          <p:cNvSpPr txBox="1"/>
          <p:nvPr/>
        </p:nvSpPr>
        <p:spPr>
          <a:xfrm>
            <a:off x="861580" y="5781224"/>
            <a:ext cx="8243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關門</a:t>
            </a:r>
            <a:endParaRPr lang="en-US" altLang="zh-TW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22CAECC-C756-6727-5829-BA4C155B3C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5425" y="2435783"/>
            <a:ext cx="9597259" cy="2276921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12B2949E-70A8-11C1-274E-E0F54EBCFE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495424" y="4581079"/>
            <a:ext cx="9597259" cy="2276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4277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12457</TotalTime>
  <Words>996</Words>
  <Application>Microsoft Office PowerPoint</Application>
  <PresentationFormat>寬螢幕</PresentationFormat>
  <Paragraphs>75</Paragraphs>
  <Slides>16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1" baseType="lpstr">
      <vt:lpstr>等线</vt:lpstr>
      <vt:lpstr>等线 Light</vt:lpstr>
      <vt:lpstr>微软雅黑</vt:lpstr>
      <vt:lpstr>Arial</vt:lpstr>
      <vt:lpstr>Office 主题​​</vt:lpstr>
      <vt:lpstr>CORING 角色演出動畫</vt:lpstr>
      <vt:lpstr>演出動畫:</vt:lpstr>
      <vt:lpstr>【0.休閒狀態】</vt:lpstr>
      <vt:lpstr>【1.點頭贊成】</vt:lpstr>
      <vt:lpstr>【2.搖頭否定】</vt:lpstr>
      <vt:lpstr>【3.托腮思索】</vt:lpstr>
      <vt:lpstr>【4.提議】</vt:lpstr>
      <vt:lpstr>【5.激動揮手】</vt:lpstr>
      <vt:lpstr>【6.聳肩】</vt:lpstr>
      <vt:lpstr>【7.獻上】</vt:lpstr>
      <vt:lpstr>【8.掙扎】注意到戰士的正面倒地死好像有缺，要麻煩進行確認~</vt:lpstr>
      <vt:lpstr>CORING 場景物件演出動畫</vt:lpstr>
      <vt:lpstr>瞳之國的門 結構說明</vt:lpstr>
      <vt:lpstr>【1. 開/關門1】</vt:lpstr>
      <vt:lpstr>【2. 開/關門2】</vt:lpstr>
      <vt:lpstr>【3. 開/關門3】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RT主流程架構</dc:title>
  <dc:creator>T172073</dc:creator>
  <cp:lastModifiedBy>ju hui chou</cp:lastModifiedBy>
  <cp:revision>1227</cp:revision>
  <dcterms:created xsi:type="dcterms:W3CDTF">2022-05-21T14:24:12Z</dcterms:created>
  <dcterms:modified xsi:type="dcterms:W3CDTF">2026-07-26T18:09:50Z</dcterms:modified>
</cp:coreProperties>
</file>